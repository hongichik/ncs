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4610"/>
  </p:normalViewPr>
  <p:slideViewPr>
    <p:cSldViewPr snapToGrid="0" snapToObjects="1">
      <p:cViewPr varScale="1">
        <p:scale>
          <a:sx n="112" d="100"/>
          <a:sy n="112" d="100"/>
        </p:scale>
        <p:origin x="46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937516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2B45"/>
        </a:solidFill>
        <a:effectLst/>
      </p:bgPr>
    </p:bg>
    <p:spTree>
      <p:nvGrpSpPr>
        <p:cNvPr id="1" name=""/>
        <p:cNvGrpSpPr/>
        <p:nvPr/>
      </p:nvGrpSpPr>
      <p:grpSpPr>
        <a:xfrm>
          <a:off x="0" y="0"/>
          <a:ext cx="0" cy="0"/>
          <a:chOff x="0" y="0"/>
          <a:chExt cx="0" cy="0"/>
        </a:xfrm>
      </p:grpSpPr>
      <p:sp>
        <p:nvSpPr>
          <p:cNvPr id="2" name="Shape 0"/>
          <p:cNvSpPr/>
          <p:nvPr/>
        </p:nvSpPr>
        <p:spPr>
          <a:xfrm>
            <a:off x="10607040" y="822960"/>
            <a:ext cx="146304" cy="146304"/>
          </a:xfrm>
          <a:prstGeom prst="ellipse">
            <a:avLst/>
          </a:prstGeom>
          <a:solidFill>
            <a:srgbClr val="0E7C7B"/>
          </a:solidFill>
          <a:ln/>
        </p:spPr>
      </p:sp>
      <p:sp>
        <p:nvSpPr>
          <p:cNvPr id="3" name="Shape 1"/>
          <p:cNvSpPr/>
          <p:nvPr/>
        </p:nvSpPr>
        <p:spPr>
          <a:xfrm>
            <a:off x="11247120" y="1280160"/>
            <a:ext cx="146304" cy="146304"/>
          </a:xfrm>
          <a:prstGeom prst="ellipse">
            <a:avLst/>
          </a:prstGeom>
          <a:solidFill>
            <a:srgbClr val="0E7C7B"/>
          </a:solidFill>
          <a:ln/>
        </p:spPr>
      </p:sp>
      <p:sp>
        <p:nvSpPr>
          <p:cNvPr id="4" name="Shape 2"/>
          <p:cNvSpPr/>
          <p:nvPr/>
        </p:nvSpPr>
        <p:spPr>
          <a:xfrm>
            <a:off x="10149840" y="1554480"/>
            <a:ext cx="146304" cy="146304"/>
          </a:xfrm>
          <a:prstGeom prst="ellipse">
            <a:avLst/>
          </a:prstGeom>
          <a:solidFill>
            <a:srgbClr val="0E7C7B"/>
          </a:solidFill>
          <a:ln/>
        </p:spPr>
      </p:sp>
      <p:sp>
        <p:nvSpPr>
          <p:cNvPr id="5" name="Shape 3"/>
          <p:cNvSpPr/>
          <p:nvPr/>
        </p:nvSpPr>
        <p:spPr>
          <a:xfrm>
            <a:off x="11521440" y="640080"/>
            <a:ext cx="146304" cy="146304"/>
          </a:xfrm>
          <a:prstGeom prst="ellipse">
            <a:avLst/>
          </a:prstGeom>
          <a:solidFill>
            <a:srgbClr val="0E7C7B"/>
          </a:solidFill>
          <a:ln/>
        </p:spPr>
      </p:sp>
      <p:sp>
        <p:nvSpPr>
          <p:cNvPr id="6" name="Shape 4"/>
          <p:cNvSpPr/>
          <p:nvPr/>
        </p:nvSpPr>
        <p:spPr>
          <a:xfrm>
            <a:off x="9875520" y="1097280"/>
            <a:ext cx="146304" cy="146304"/>
          </a:xfrm>
          <a:prstGeom prst="ellipse">
            <a:avLst/>
          </a:prstGeom>
          <a:solidFill>
            <a:srgbClr val="0E7C7B"/>
          </a:solidFill>
          <a:ln/>
        </p:spPr>
      </p:sp>
      <p:sp>
        <p:nvSpPr>
          <p:cNvPr id="7" name="Shape 5"/>
          <p:cNvSpPr/>
          <p:nvPr/>
        </p:nvSpPr>
        <p:spPr>
          <a:xfrm>
            <a:off x="10680192" y="896112"/>
            <a:ext cx="566928" cy="384048"/>
          </a:xfrm>
          <a:prstGeom prst="line">
            <a:avLst/>
          </a:prstGeom>
          <a:noFill/>
          <a:ln w="19050">
            <a:solidFill>
              <a:srgbClr val="0E7C7B"/>
            </a:solidFill>
            <a:prstDash val="solid"/>
          </a:ln>
        </p:spPr>
      </p:sp>
      <p:sp>
        <p:nvSpPr>
          <p:cNvPr id="8" name="Shape 6"/>
          <p:cNvSpPr/>
          <p:nvPr/>
        </p:nvSpPr>
        <p:spPr>
          <a:xfrm>
            <a:off x="10204704" y="896112"/>
            <a:ext cx="475488" cy="658368"/>
          </a:xfrm>
          <a:prstGeom prst="line">
            <a:avLst/>
          </a:prstGeom>
          <a:noFill/>
          <a:ln w="19050">
            <a:solidFill>
              <a:srgbClr val="0E7C7B"/>
            </a:solidFill>
            <a:prstDash val="solid"/>
          </a:ln>
        </p:spPr>
      </p:sp>
      <p:sp>
        <p:nvSpPr>
          <p:cNvPr id="9" name="Shape 7"/>
          <p:cNvSpPr/>
          <p:nvPr/>
        </p:nvSpPr>
        <p:spPr>
          <a:xfrm>
            <a:off x="9948672" y="1170432"/>
            <a:ext cx="256032" cy="384048"/>
          </a:xfrm>
          <a:prstGeom prst="line">
            <a:avLst/>
          </a:prstGeom>
          <a:noFill/>
          <a:ln w="19050">
            <a:solidFill>
              <a:srgbClr val="0E7C7B"/>
            </a:solidFill>
            <a:prstDash val="solid"/>
          </a:ln>
        </p:spPr>
      </p:sp>
      <p:sp>
        <p:nvSpPr>
          <p:cNvPr id="10" name="Text 8"/>
          <p:cNvSpPr/>
          <p:nvPr/>
        </p:nvSpPr>
        <p:spPr>
          <a:xfrm>
            <a:off x="822960" y="1828800"/>
            <a:ext cx="10058400" cy="365760"/>
          </a:xfrm>
          <a:prstGeom prst="rect">
            <a:avLst/>
          </a:prstGeom>
          <a:noFill/>
          <a:ln/>
        </p:spPr>
        <p:txBody>
          <a:bodyPr wrap="square" lIns="0" tIns="0" rIns="0" bIns="0" rtlCol="0" anchor="ctr"/>
          <a:lstStyle/>
          <a:p>
            <a:pPr marL="0" indent="0">
              <a:buNone/>
            </a:pPr>
            <a:r>
              <a:rPr lang="en-US" sz="1400" b="1" kern="0" spc="300" dirty="0">
                <a:solidFill>
                  <a:srgbClr val="5EC9C7"/>
                </a:solidFill>
                <a:latin typeface="Arial" pitchFamily="34" charset="0"/>
                <a:ea typeface="Arial" pitchFamily="34" charset="-122"/>
                <a:cs typeface="Arial" pitchFamily="34" charset="-120"/>
              </a:rPr>
              <a:t>BÀI BÁO Q3 · SESSION-BASED RECOMMENDATION</a:t>
            </a:r>
            <a:endParaRPr lang="en-US" sz="1400" dirty="0"/>
          </a:p>
        </p:txBody>
      </p:sp>
      <p:sp>
        <p:nvSpPr>
          <p:cNvPr id="11" name="Text 9"/>
          <p:cNvSpPr/>
          <p:nvPr/>
        </p:nvSpPr>
        <p:spPr>
          <a:xfrm>
            <a:off x="777240" y="2286000"/>
            <a:ext cx="10607040" cy="1737360"/>
          </a:xfrm>
          <a:prstGeom prst="rect">
            <a:avLst/>
          </a:prstGeom>
          <a:noFill/>
          <a:ln/>
        </p:spPr>
        <p:txBody>
          <a:bodyPr wrap="square" lIns="0" tIns="0" rIns="0" bIns="0" rtlCol="0" anchor="ctr"/>
          <a:lstStyle/>
          <a:p>
            <a:pPr marL="0" indent="0">
              <a:lnSpc>
                <a:spcPct val="100000"/>
              </a:lnSpc>
              <a:buNone/>
            </a:pPr>
            <a:r>
              <a:rPr lang="en-US" sz="4600" b="1" dirty="0">
                <a:solidFill>
                  <a:srgbClr val="FFFFFF"/>
                </a:solidFill>
                <a:latin typeface="Georgia" pitchFamily="34" charset="0"/>
                <a:ea typeface="Georgia" pitchFamily="34" charset="-122"/>
                <a:cs typeface="Georgia" pitchFamily="34" charset="-120"/>
              </a:rPr>
              <a:t>Category-Structure-Guided</a:t>
            </a:r>
            <a:endParaRPr lang="en-US" sz="4600" dirty="0"/>
          </a:p>
          <a:p>
            <a:pPr marL="0" indent="0">
              <a:lnSpc>
                <a:spcPct val="100000"/>
              </a:lnSpc>
              <a:buNone/>
            </a:pPr>
            <a:r>
              <a:rPr lang="en-US" sz="4600" b="1" dirty="0">
                <a:solidFill>
                  <a:srgbClr val="FFFFFF"/>
                </a:solidFill>
                <a:latin typeface="Georgia" pitchFamily="34" charset="0"/>
                <a:ea typeface="Georgia" pitchFamily="34" charset="-122"/>
                <a:cs typeface="Georgia" pitchFamily="34" charset="-120"/>
              </a:rPr>
              <a:t>Session Augmentation</a:t>
            </a:r>
            <a:endParaRPr lang="en-US" sz="4600" dirty="0"/>
          </a:p>
        </p:txBody>
      </p:sp>
      <p:sp>
        <p:nvSpPr>
          <p:cNvPr id="12" name="Text 10"/>
          <p:cNvSpPr/>
          <p:nvPr/>
        </p:nvSpPr>
        <p:spPr>
          <a:xfrm>
            <a:off x="822960" y="4069080"/>
            <a:ext cx="10058400" cy="457200"/>
          </a:xfrm>
          <a:prstGeom prst="rect">
            <a:avLst/>
          </a:prstGeom>
          <a:noFill/>
          <a:ln/>
        </p:spPr>
        <p:txBody>
          <a:bodyPr wrap="square" lIns="0" tIns="0" rIns="0" bIns="0" rtlCol="0" anchor="ctr"/>
          <a:lstStyle/>
          <a:p>
            <a:pPr marL="0" indent="0">
              <a:buNone/>
            </a:pPr>
            <a:r>
              <a:rPr lang="en-US" sz="2000" b="1" dirty="0">
                <a:solidFill>
                  <a:srgbClr val="F4A261"/>
                </a:solidFill>
                <a:latin typeface="Calibri" pitchFamily="34" charset="0"/>
                <a:ea typeface="Calibri" pitchFamily="34" charset="-122"/>
                <a:cs typeface="Calibri" pitchFamily="34" charset="-120"/>
              </a:rPr>
              <a:t>Bối cảnh &amp; Động lực</a:t>
            </a:r>
            <a:r>
              <a:rPr lang="en-US" sz="2000" dirty="0">
                <a:solidFill>
                  <a:srgbClr val="CADCFC"/>
                </a:solidFill>
                <a:latin typeface="Calibri" pitchFamily="34" charset="0"/>
                <a:ea typeface="Calibri" pitchFamily="34" charset="-122"/>
                <a:cs typeface="Calibri" pitchFamily="34" charset="-120"/>
              </a:rPr>
              <a:t>   —   từ biểu diễn item đến đề xuất CatSA</a:t>
            </a:r>
            <a:endParaRPr lang="en-US" sz="2000" dirty="0"/>
          </a:p>
        </p:txBody>
      </p:sp>
      <p:sp>
        <p:nvSpPr>
          <p:cNvPr id="13" name="Shape 11"/>
          <p:cNvSpPr/>
          <p:nvPr/>
        </p:nvSpPr>
        <p:spPr>
          <a:xfrm>
            <a:off x="822960" y="4800600"/>
            <a:ext cx="2926080" cy="27432"/>
          </a:xfrm>
          <a:prstGeom prst="rect">
            <a:avLst/>
          </a:prstGeom>
          <a:solidFill>
            <a:srgbClr val="0E7C7B"/>
          </a:solidFill>
          <a:ln/>
        </p:spPr>
      </p:sp>
      <p:sp>
        <p:nvSpPr>
          <p:cNvPr id="14" name="Text 12"/>
          <p:cNvSpPr/>
          <p:nvPr/>
        </p:nvSpPr>
        <p:spPr>
          <a:xfrm>
            <a:off x="822960" y="5029200"/>
            <a:ext cx="10058400" cy="320040"/>
          </a:xfrm>
          <a:prstGeom prst="rect">
            <a:avLst/>
          </a:prstGeom>
          <a:noFill/>
          <a:ln/>
        </p:spPr>
        <p:txBody>
          <a:bodyPr wrap="square" lIns="0" tIns="0" rIns="0" bIns="0" rtlCol="0" anchor="ctr"/>
          <a:lstStyle/>
          <a:p>
            <a:pPr marL="0" indent="0">
              <a:buNone/>
            </a:pPr>
            <a:r>
              <a:rPr lang="en-US" sz="1500" dirty="0">
                <a:solidFill>
                  <a:srgbClr val="94A3B8"/>
                </a:solidFill>
                <a:latin typeface="Calibri" pitchFamily="34" charset="0"/>
                <a:ea typeface="Calibri" pitchFamily="34" charset="-122"/>
                <a:cs typeface="Calibri" pitchFamily="34" charset="-120"/>
              </a:rPr>
              <a:t>Khung framework: </a:t>
            </a:r>
            <a:r>
              <a:rPr lang="en-US" sz="1500" b="1" dirty="0">
                <a:solidFill>
                  <a:srgbClr val="FFFFFF"/>
                </a:solidFill>
                <a:latin typeface="Calibri" pitchFamily="34" charset="0"/>
                <a:ea typeface="Calibri" pitchFamily="34" charset="-122"/>
                <a:cs typeface="Calibri" pitchFamily="34" charset="-120"/>
              </a:rPr>
              <a:t>CAPro-CL</a:t>
            </a:r>
            <a:endParaRPr lang="en-US" sz="1500" dirty="0"/>
          </a:p>
        </p:txBody>
      </p:sp>
      <p:sp>
        <p:nvSpPr>
          <p:cNvPr id="15" name="Text 13"/>
          <p:cNvSpPr/>
          <p:nvPr/>
        </p:nvSpPr>
        <p:spPr>
          <a:xfrm>
            <a:off x="822960" y="5376672"/>
            <a:ext cx="10058400" cy="320040"/>
          </a:xfrm>
          <a:prstGeom prst="rect">
            <a:avLst/>
          </a:prstGeom>
          <a:noFill/>
          <a:ln/>
        </p:spPr>
        <p:txBody>
          <a:bodyPr wrap="square" lIns="0" tIns="0" rIns="0" bIns="0" rtlCol="0" anchor="ctr"/>
          <a:lstStyle/>
          <a:p>
            <a:pPr marL="0" indent="0">
              <a:buNone/>
            </a:pPr>
            <a:r>
              <a:rPr lang="en-US" sz="1500" dirty="0">
                <a:solidFill>
                  <a:srgbClr val="94A3B8"/>
                </a:solidFill>
                <a:latin typeface="Calibri" pitchFamily="34" charset="0"/>
                <a:ea typeface="Calibri" pitchFamily="34" charset="-122"/>
                <a:cs typeface="Calibri" pitchFamily="34" charset="-120"/>
              </a:rPr>
              <a:t>Hướng dẫn: </a:t>
            </a:r>
            <a:r>
              <a:rPr lang="en-US" sz="1500" dirty="0">
                <a:solidFill>
                  <a:srgbClr val="FFFFFF"/>
                </a:solidFill>
                <a:latin typeface="Calibri" pitchFamily="34" charset="0"/>
                <a:ea typeface="Calibri" pitchFamily="34" charset="-122"/>
                <a:cs typeface="Calibri" pitchFamily="34" charset="-120"/>
              </a:rPr>
              <a:t>PGS. TS. Nguyễn </a:t>
            </a:r>
            <a:r>
              <a:rPr lang="en-US" sz="1500">
                <a:solidFill>
                  <a:srgbClr val="FFFFFF"/>
                </a:solidFill>
                <a:latin typeface="Calibri" pitchFamily="34" charset="0"/>
                <a:ea typeface="Calibri" pitchFamily="34" charset="-122"/>
                <a:cs typeface="Calibri" pitchFamily="34" charset="-120"/>
              </a:rPr>
              <a:t>Văn </a:t>
            </a:r>
            <a:r>
              <a:rPr lang="en-US" sz="1500" smtClean="0">
                <a:solidFill>
                  <a:srgbClr val="FFFFFF"/>
                </a:solidFill>
                <a:latin typeface="Calibri" pitchFamily="34" charset="0"/>
                <a:ea typeface="Calibri" pitchFamily="34" charset="-122"/>
                <a:cs typeface="Calibri" pitchFamily="34" charset="-120"/>
              </a:rPr>
              <a:t>Hậu</a:t>
            </a:r>
            <a:endParaRPr lang="en-US" sz="15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lIns="0" tIns="0" rIns="0" bIns="0" rtlCol="0" anchor="ctr"/>
          <a:lstStyle/>
          <a:p>
            <a:pPr marL="0" indent="0">
              <a:buNone/>
            </a:pPr>
            <a:r>
              <a:rPr lang="en-US" sz="1200" b="1" kern="0" spc="300" dirty="0">
                <a:solidFill>
                  <a:srgbClr val="0E7C7B"/>
                </a:solidFill>
                <a:latin typeface="Arial" pitchFamily="34" charset="0"/>
                <a:ea typeface="Arial" pitchFamily="34" charset="-122"/>
                <a:cs typeface="Arial" pitchFamily="34" charset="-120"/>
              </a:rPr>
              <a:t>BÀI TOÁN</a:t>
            </a:r>
            <a:endParaRPr lang="en-US" sz="12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0D2B45"/>
                </a:solidFill>
                <a:latin typeface="Georgia" pitchFamily="34" charset="0"/>
                <a:ea typeface="Georgia" pitchFamily="34" charset="-122"/>
                <a:cs typeface="Georgia" pitchFamily="34" charset="-120"/>
              </a:rPr>
              <a:t>Gợi ý khi không biết người dùng là ai</a:t>
            </a:r>
            <a:endParaRPr lang="en-US" sz="3000" dirty="0"/>
          </a:p>
        </p:txBody>
      </p:sp>
      <p:sp>
        <p:nvSpPr>
          <p:cNvPr id="4" name="Text 2"/>
          <p:cNvSpPr/>
          <p:nvPr/>
        </p:nvSpPr>
        <p:spPr>
          <a:xfrm>
            <a:off x="548640" y="1627632"/>
            <a:ext cx="6766560" cy="914400"/>
          </a:xfrm>
          <a:prstGeom prst="rect">
            <a:avLst/>
          </a:prstGeom>
          <a:noFill/>
          <a:ln/>
        </p:spPr>
        <p:txBody>
          <a:bodyPr wrap="square" lIns="0" tIns="0" rIns="0" bIns="0" rtlCol="0" anchor="ctr"/>
          <a:lstStyle/>
          <a:p>
            <a:pPr marL="0" indent="0" algn="l">
              <a:lnSpc>
                <a:spcPct val="110000"/>
              </a:lnSpc>
              <a:buNone/>
            </a:pPr>
            <a:r>
              <a:rPr lang="en-US" sz="1600" dirty="0">
                <a:solidFill>
                  <a:srgbClr val="1E293B"/>
                </a:solidFill>
                <a:latin typeface="Calibri" pitchFamily="34" charset="0"/>
                <a:ea typeface="Calibri" pitchFamily="34" charset="-122"/>
                <a:cs typeface="Calibri" pitchFamily="34" charset="-120"/>
              </a:rPr>
              <a:t>Người dùng ẩn danh, chưa đăng nhập, chỉ để lại một chuỗi ngắn các item vừa tương tác trong phiên hiện tại. Hệ thống phải đoán item tiếp theo.</a:t>
            </a:r>
            <a:endParaRPr lang="en-US" sz="1600" dirty="0"/>
          </a:p>
        </p:txBody>
      </p:sp>
      <p:sp>
        <p:nvSpPr>
          <p:cNvPr id="5" name="Shape 3"/>
          <p:cNvSpPr/>
          <p:nvPr/>
        </p:nvSpPr>
        <p:spPr>
          <a:xfrm>
            <a:off x="548640" y="2880360"/>
            <a:ext cx="1600200" cy="1051560"/>
          </a:xfrm>
          <a:prstGeom prst="roundRect">
            <a:avLst>
              <a:gd name="adj" fmla="val 8696"/>
            </a:avLst>
          </a:prstGeom>
          <a:solidFill>
            <a:srgbClr val="F1F5F9"/>
          </a:solidFill>
          <a:ln w="19050">
            <a:solidFill>
              <a:srgbClr val="0E7C7B"/>
            </a:solidFill>
            <a:prstDash val="solid"/>
          </a:ln>
          <a:effectLst>
            <a:outerShdw blurRad="88900" dist="38100" dir="8100000" algn="bl" rotWithShape="0">
              <a:srgbClr val="000000">
                <a:alpha val="16000"/>
              </a:srgbClr>
            </a:outerShdw>
          </a:effectLst>
        </p:spPr>
      </p:sp>
      <p:sp>
        <p:nvSpPr>
          <p:cNvPr id="6" name="Text 4"/>
          <p:cNvSpPr/>
          <p:nvPr/>
        </p:nvSpPr>
        <p:spPr>
          <a:xfrm>
            <a:off x="548640" y="2953512"/>
            <a:ext cx="1600200" cy="640080"/>
          </a:xfrm>
          <a:prstGeom prst="rect">
            <a:avLst/>
          </a:prstGeom>
          <a:noFill/>
          <a:ln/>
        </p:spPr>
        <p:txBody>
          <a:bodyPr wrap="square" lIns="0" tIns="0" rIns="0" bIns="0" rtlCol="0" anchor="ctr"/>
          <a:lstStyle/>
          <a:p>
            <a:pPr marL="0" indent="0" algn="ctr">
              <a:buNone/>
            </a:pPr>
            <a:r>
              <a:rPr lang="en-US" sz="1400" b="1" dirty="0">
                <a:solidFill>
                  <a:srgbClr val="1E293B"/>
                </a:solidFill>
                <a:latin typeface="Calibri" pitchFamily="34" charset="0"/>
                <a:ea typeface="Calibri" pitchFamily="34" charset="-122"/>
                <a:cs typeface="Calibri" pitchFamily="34" charset="-120"/>
              </a:rPr>
              <a:t>iPhone</a:t>
            </a:r>
            <a:endParaRPr lang="en-US" sz="1400" dirty="0"/>
          </a:p>
          <a:p>
            <a:pPr marL="0" indent="0" algn="ctr">
              <a:buNone/>
            </a:pPr>
            <a:r>
              <a:rPr lang="en-US" sz="1400" b="1" dirty="0">
                <a:solidFill>
                  <a:srgbClr val="1E293B"/>
                </a:solidFill>
                <a:latin typeface="Calibri" pitchFamily="34" charset="0"/>
                <a:ea typeface="Calibri" pitchFamily="34" charset="-122"/>
                <a:cs typeface="Calibri" pitchFamily="34" charset="-120"/>
              </a:rPr>
              <a:t>16 Pro</a:t>
            </a:r>
            <a:endParaRPr lang="en-US" sz="1400" dirty="0"/>
          </a:p>
        </p:txBody>
      </p:sp>
      <p:sp>
        <p:nvSpPr>
          <p:cNvPr id="7" name="Text 5"/>
          <p:cNvSpPr/>
          <p:nvPr/>
        </p:nvSpPr>
        <p:spPr>
          <a:xfrm>
            <a:off x="548640" y="3593592"/>
            <a:ext cx="1600200" cy="274320"/>
          </a:xfrm>
          <a:prstGeom prst="rect">
            <a:avLst/>
          </a:prstGeom>
          <a:noFill/>
          <a:ln/>
        </p:spPr>
        <p:txBody>
          <a:bodyPr wrap="square" lIns="0" tIns="0" rIns="0" bIns="0" rtlCol="0" anchor="ctr"/>
          <a:lstStyle/>
          <a:p>
            <a:pPr marL="0" indent="0" algn="ctr">
              <a:buNone/>
            </a:pPr>
            <a:r>
              <a:rPr lang="en-US" sz="1000" i="1" dirty="0">
                <a:solidFill>
                  <a:srgbClr val="0E7C7B"/>
                </a:solidFill>
                <a:latin typeface="Calibri" pitchFamily="34" charset="0"/>
                <a:ea typeface="Calibri" pitchFamily="34" charset="-122"/>
                <a:cs typeface="Calibri" pitchFamily="34" charset="-120"/>
              </a:rPr>
              <a:t>Điện thoại</a:t>
            </a:r>
            <a:endParaRPr lang="en-US" sz="1000" dirty="0"/>
          </a:p>
        </p:txBody>
      </p:sp>
      <p:sp>
        <p:nvSpPr>
          <p:cNvPr id="8" name="Shape 6"/>
          <p:cNvSpPr/>
          <p:nvPr/>
        </p:nvSpPr>
        <p:spPr>
          <a:xfrm>
            <a:off x="2221992" y="3406140"/>
            <a:ext cx="356616" cy="0"/>
          </a:xfrm>
          <a:prstGeom prst="line">
            <a:avLst/>
          </a:prstGeom>
          <a:noFill/>
          <a:ln w="25400">
            <a:solidFill>
              <a:srgbClr val="64748B"/>
            </a:solidFill>
            <a:prstDash val="solid"/>
            <a:tailEnd type="triangle"/>
          </a:ln>
        </p:spPr>
      </p:sp>
      <p:sp>
        <p:nvSpPr>
          <p:cNvPr id="9" name="Shape 7"/>
          <p:cNvSpPr/>
          <p:nvPr/>
        </p:nvSpPr>
        <p:spPr>
          <a:xfrm>
            <a:off x="2651760" y="2880360"/>
            <a:ext cx="1600200" cy="1051560"/>
          </a:xfrm>
          <a:prstGeom prst="roundRect">
            <a:avLst>
              <a:gd name="adj" fmla="val 8696"/>
            </a:avLst>
          </a:prstGeom>
          <a:solidFill>
            <a:srgbClr val="F1F5F9"/>
          </a:solidFill>
          <a:ln w="19050">
            <a:solidFill>
              <a:srgbClr val="0E7C7B"/>
            </a:solidFill>
            <a:prstDash val="solid"/>
          </a:ln>
          <a:effectLst>
            <a:outerShdw blurRad="88900" dist="38100" dir="8100000" algn="bl" rotWithShape="0">
              <a:srgbClr val="000000">
                <a:alpha val="16000"/>
              </a:srgbClr>
            </a:outerShdw>
          </a:effectLst>
        </p:spPr>
      </p:sp>
      <p:sp>
        <p:nvSpPr>
          <p:cNvPr id="10" name="Text 8"/>
          <p:cNvSpPr/>
          <p:nvPr/>
        </p:nvSpPr>
        <p:spPr>
          <a:xfrm>
            <a:off x="2651760" y="2953512"/>
            <a:ext cx="1600200" cy="640080"/>
          </a:xfrm>
          <a:prstGeom prst="rect">
            <a:avLst/>
          </a:prstGeom>
          <a:noFill/>
          <a:ln/>
        </p:spPr>
        <p:txBody>
          <a:bodyPr wrap="square" lIns="0" tIns="0" rIns="0" bIns="0" rtlCol="0" anchor="ctr"/>
          <a:lstStyle/>
          <a:p>
            <a:pPr marL="0" indent="0" algn="ctr">
              <a:buNone/>
            </a:pPr>
            <a:r>
              <a:rPr lang="en-US" sz="1400" b="1" dirty="0">
                <a:solidFill>
                  <a:srgbClr val="1E293B"/>
                </a:solidFill>
                <a:latin typeface="Calibri" pitchFamily="34" charset="0"/>
                <a:ea typeface="Calibri" pitchFamily="34" charset="-122"/>
                <a:cs typeface="Calibri" pitchFamily="34" charset="-120"/>
              </a:rPr>
              <a:t>Ốp lưng</a:t>
            </a:r>
            <a:endParaRPr lang="en-US" sz="1400" dirty="0"/>
          </a:p>
          <a:p>
            <a:pPr marL="0" indent="0" algn="ctr">
              <a:buNone/>
            </a:pPr>
            <a:r>
              <a:rPr lang="en-US" sz="1400" b="1" dirty="0">
                <a:solidFill>
                  <a:srgbClr val="1E293B"/>
                </a:solidFill>
                <a:latin typeface="Calibri" pitchFamily="34" charset="0"/>
                <a:ea typeface="Calibri" pitchFamily="34" charset="-122"/>
                <a:cs typeface="Calibri" pitchFamily="34" charset="-120"/>
              </a:rPr>
              <a:t>iPhone</a:t>
            </a:r>
            <a:endParaRPr lang="en-US" sz="1400" dirty="0"/>
          </a:p>
        </p:txBody>
      </p:sp>
      <p:sp>
        <p:nvSpPr>
          <p:cNvPr id="11" name="Text 9"/>
          <p:cNvSpPr/>
          <p:nvPr/>
        </p:nvSpPr>
        <p:spPr>
          <a:xfrm>
            <a:off x="2651760" y="3593592"/>
            <a:ext cx="1600200" cy="274320"/>
          </a:xfrm>
          <a:prstGeom prst="rect">
            <a:avLst/>
          </a:prstGeom>
          <a:noFill/>
          <a:ln/>
        </p:spPr>
        <p:txBody>
          <a:bodyPr wrap="square" lIns="0" tIns="0" rIns="0" bIns="0" rtlCol="0" anchor="ctr"/>
          <a:lstStyle/>
          <a:p>
            <a:pPr marL="0" indent="0" algn="ctr">
              <a:buNone/>
            </a:pPr>
            <a:r>
              <a:rPr lang="en-US" sz="1000" i="1" dirty="0">
                <a:solidFill>
                  <a:srgbClr val="0E7C7B"/>
                </a:solidFill>
                <a:latin typeface="Calibri" pitchFamily="34" charset="0"/>
                <a:ea typeface="Calibri" pitchFamily="34" charset="-122"/>
                <a:cs typeface="Calibri" pitchFamily="34" charset="-120"/>
              </a:rPr>
              <a:t>Ốp lưng</a:t>
            </a:r>
            <a:endParaRPr lang="en-US" sz="1000" dirty="0"/>
          </a:p>
        </p:txBody>
      </p:sp>
      <p:sp>
        <p:nvSpPr>
          <p:cNvPr id="12" name="Shape 10"/>
          <p:cNvSpPr/>
          <p:nvPr/>
        </p:nvSpPr>
        <p:spPr>
          <a:xfrm>
            <a:off x="4325112" y="3406140"/>
            <a:ext cx="356616" cy="0"/>
          </a:xfrm>
          <a:prstGeom prst="line">
            <a:avLst/>
          </a:prstGeom>
          <a:noFill/>
          <a:ln w="25400">
            <a:solidFill>
              <a:srgbClr val="64748B"/>
            </a:solidFill>
            <a:prstDash val="solid"/>
            <a:tailEnd type="triangle"/>
          </a:ln>
        </p:spPr>
      </p:sp>
      <p:sp>
        <p:nvSpPr>
          <p:cNvPr id="13" name="Shape 11"/>
          <p:cNvSpPr/>
          <p:nvPr/>
        </p:nvSpPr>
        <p:spPr>
          <a:xfrm>
            <a:off x="4754880" y="2880360"/>
            <a:ext cx="1600200" cy="1051560"/>
          </a:xfrm>
          <a:prstGeom prst="roundRect">
            <a:avLst>
              <a:gd name="adj" fmla="val 8696"/>
            </a:avLst>
          </a:prstGeom>
          <a:solidFill>
            <a:srgbClr val="F1F5F9"/>
          </a:solidFill>
          <a:ln w="19050">
            <a:solidFill>
              <a:srgbClr val="0E7C7B"/>
            </a:solidFill>
            <a:prstDash val="solid"/>
          </a:ln>
          <a:effectLst>
            <a:outerShdw blurRad="88900" dist="38100" dir="8100000" algn="bl" rotWithShape="0">
              <a:srgbClr val="000000">
                <a:alpha val="16000"/>
              </a:srgbClr>
            </a:outerShdw>
          </a:effectLst>
        </p:spPr>
      </p:sp>
      <p:sp>
        <p:nvSpPr>
          <p:cNvPr id="14" name="Text 12"/>
          <p:cNvSpPr/>
          <p:nvPr/>
        </p:nvSpPr>
        <p:spPr>
          <a:xfrm>
            <a:off x="4754880" y="2953512"/>
            <a:ext cx="1600200" cy="640080"/>
          </a:xfrm>
          <a:prstGeom prst="rect">
            <a:avLst/>
          </a:prstGeom>
          <a:noFill/>
          <a:ln/>
        </p:spPr>
        <p:txBody>
          <a:bodyPr wrap="square" lIns="0" tIns="0" rIns="0" bIns="0" rtlCol="0" anchor="ctr"/>
          <a:lstStyle/>
          <a:p>
            <a:pPr marL="0" indent="0" algn="ctr">
              <a:buNone/>
            </a:pPr>
            <a:r>
              <a:rPr lang="en-US" sz="1400" b="1" dirty="0">
                <a:solidFill>
                  <a:srgbClr val="1E293B"/>
                </a:solidFill>
                <a:latin typeface="Calibri" pitchFamily="34" charset="0"/>
                <a:ea typeface="Calibri" pitchFamily="34" charset="-122"/>
                <a:cs typeface="Calibri" pitchFamily="34" charset="-120"/>
              </a:rPr>
              <a:t>Sạc</a:t>
            </a:r>
            <a:endParaRPr lang="en-US" sz="1400" dirty="0"/>
          </a:p>
          <a:p>
            <a:pPr marL="0" indent="0" algn="ctr">
              <a:buNone/>
            </a:pPr>
            <a:r>
              <a:rPr lang="en-US" sz="1400" b="1" dirty="0">
                <a:solidFill>
                  <a:srgbClr val="1E293B"/>
                </a:solidFill>
                <a:latin typeface="Calibri" pitchFamily="34" charset="0"/>
                <a:ea typeface="Calibri" pitchFamily="34" charset="-122"/>
                <a:cs typeface="Calibri" pitchFamily="34" charset="-120"/>
              </a:rPr>
              <a:t>20W</a:t>
            </a:r>
            <a:endParaRPr lang="en-US" sz="1400" dirty="0"/>
          </a:p>
        </p:txBody>
      </p:sp>
      <p:sp>
        <p:nvSpPr>
          <p:cNvPr id="15" name="Text 13"/>
          <p:cNvSpPr/>
          <p:nvPr/>
        </p:nvSpPr>
        <p:spPr>
          <a:xfrm>
            <a:off x="4754880" y="3593592"/>
            <a:ext cx="1600200" cy="274320"/>
          </a:xfrm>
          <a:prstGeom prst="rect">
            <a:avLst/>
          </a:prstGeom>
          <a:noFill/>
          <a:ln/>
        </p:spPr>
        <p:txBody>
          <a:bodyPr wrap="square" lIns="0" tIns="0" rIns="0" bIns="0" rtlCol="0" anchor="ctr"/>
          <a:lstStyle/>
          <a:p>
            <a:pPr marL="0" indent="0" algn="ctr">
              <a:buNone/>
            </a:pPr>
            <a:r>
              <a:rPr lang="en-US" sz="1000" i="1" dirty="0">
                <a:solidFill>
                  <a:srgbClr val="0E7C7B"/>
                </a:solidFill>
                <a:latin typeface="Calibri" pitchFamily="34" charset="0"/>
                <a:ea typeface="Calibri" pitchFamily="34" charset="-122"/>
                <a:cs typeface="Calibri" pitchFamily="34" charset="-120"/>
              </a:rPr>
              <a:t>Sạc &amp; Cáp</a:t>
            </a:r>
            <a:endParaRPr lang="en-US" sz="1000" dirty="0"/>
          </a:p>
        </p:txBody>
      </p:sp>
      <p:sp>
        <p:nvSpPr>
          <p:cNvPr id="16" name="Shape 14"/>
          <p:cNvSpPr/>
          <p:nvPr/>
        </p:nvSpPr>
        <p:spPr>
          <a:xfrm>
            <a:off x="6428232" y="3406140"/>
            <a:ext cx="356616" cy="0"/>
          </a:xfrm>
          <a:prstGeom prst="line">
            <a:avLst/>
          </a:prstGeom>
          <a:noFill/>
          <a:ln w="25400">
            <a:solidFill>
              <a:srgbClr val="64748B"/>
            </a:solidFill>
            <a:prstDash val="solid"/>
            <a:tailEnd type="triangle"/>
          </a:ln>
        </p:spPr>
      </p:sp>
      <p:sp>
        <p:nvSpPr>
          <p:cNvPr id="17" name="Shape 15"/>
          <p:cNvSpPr/>
          <p:nvPr/>
        </p:nvSpPr>
        <p:spPr>
          <a:xfrm>
            <a:off x="6858000" y="2880360"/>
            <a:ext cx="1600200" cy="1051560"/>
          </a:xfrm>
          <a:prstGeom prst="roundRect">
            <a:avLst>
              <a:gd name="adj" fmla="val 8696"/>
            </a:avLst>
          </a:prstGeom>
          <a:solidFill>
            <a:srgbClr val="F1F5F9"/>
          </a:solidFill>
          <a:ln w="19050">
            <a:solidFill>
              <a:srgbClr val="0E7C7B"/>
            </a:solidFill>
            <a:prstDash val="solid"/>
          </a:ln>
          <a:effectLst>
            <a:outerShdw blurRad="88900" dist="38100" dir="8100000" algn="bl" rotWithShape="0">
              <a:srgbClr val="000000">
                <a:alpha val="16000"/>
              </a:srgbClr>
            </a:outerShdw>
          </a:effectLst>
        </p:spPr>
      </p:sp>
      <p:sp>
        <p:nvSpPr>
          <p:cNvPr id="18" name="Text 16"/>
          <p:cNvSpPr/>
          <p:nvPr/>
        </p:nvSpPr>
        <p:spPr>
          <a:xfrm>
            <a:off x="6858000" y="2953512"/>
            <a:ext cx="1600200" cy="640080"/>
          </a:xfrm>
          <a:prstGeom prst="rect">
            <a:avLst/>
          </a:prstGeom>
          <a:noFill/>
          <a:ln/>
        </p:spPr>
        <p:txBody>
          <a:bodyPr wrap="square" lIns="0" tIns="0" rIns="0" bIns="0" rtlCol="0" anchor="ctr"/>
          <a:lstStyle/>
          <a:p>
            <a:pPr marL="0" indent="0" algn="ctr">
              <a:buNone/>
            </a:pPr>
            <a:r>
              <a:rPr lang="en-US" sz="1400" b="1" dirty="0">
                <a:solidFill>
                  <a:srgbClr val="1E293B"/>
                </a:solidFill>
                <a:latin typeface="Calibri" pitchFamily="34" charset="0"/>
                <a:ea typeface="Calibri" pitchFamily="34" charset="-122"/>
                <a:cs typeface="Calibri" pitchFamily="34" charset="-120"/>
              </a:rPr>
              <a:t>AirPods</a:t>
            </a:r>
            <a:endParaRPr lang="en-US" sz="1400" dirty="0"/>
          </a:p>
          <a:p>
            <a:pPr marL="0" indent="0" algn="ctr">
              <a:buNone/>
            </a:pPr>
            <a:r>
              <a:rPr lang="en-US" sz="1400" b="1" dirty="0">
                <a:solidFill>
                  <a:srgbClr val="1E293B"/>
                </a:solidFill>
                <a:latin typeface="Calibri" pitchFamily="34" charset="0"/>
                <a:ea typeface="Calibri" pitchFamily="34" charset="-122"/>
                <a:cs typeface="Calibri" pitchFamily="34" charset="-120"/>
              </a:rPr>
              <a:t>Pro 2</a:t>
            </a:r>
            <a:endParaRPr lang="en-US" sz="1400" dirty="0"/>
          </a:p>
        </p:txBody>
      </p:sp>
      <p:sp>
        <p:nvSpPr>
          <p:cNvPr id="19" name="Text 17"/>
          <p:cNvSpPr/>
          <p:nvPr/>
        </p:nvSpPr>
        <p:spPr>
          <a:xfrm>
            <a:off x="6858000" y="3593592"/>
            <a:ext cx="1600200" cy="274320"/>
          </a:xfrm>
          <a:prstGeom prst="rect">
            <a:avLst/>
          </a:prstGeom>
          <a:noFill/>
          <a:ln/>
        </p:spPr>
        <p:txBody>
          <a:bodyPr wrap="square" lIns="0" tIns="0" rIns="0" bIns="0" rtlCol="0" anchor="ctr"/>
          <a:lstStyle/>
          <a:p>
            <a:pPr marL="0" indent="0" algn="ctr">
              <a:buNone/>
            </a:pPr>
            <a:r>
              <a:rPr lang="en-US" sz="1000" i="1" dirty="0">
                <a:solidFill>
                  <a:srgbClr val="0E7C7B"/>
                </a:solidFill>
                <a:latin typeface="Calibri" pitchFamily="34" charset="0"/>
                <a:ea typeface="Calibri" pitchFamily="34" charset="-122"/>
                <a:cs typeface="Calibri" pitchFamily="34" charset="-120"/>
              </a:rPr>
              <a:t>Tai nghe</a:t>
            </a:r>
            <a:endParaRPr lang="en-US" sz="1000" dirty="0"/>
          </a:p>
        </p:txBody>
      </p:sp>
      <p:sp>
        <p:nvSpPr>
          <p:cNvPr id="20" name="Shape 18"/>
          <p:cNvSpPr/>
          <p:nvPr/>
        </p:nvSpPr>
        <p:spPr>
          <a:xfrm>
            <a:off x="8531352" y="3406140"/>
            <a:ext cx="356616" cy="0"/>
          </a:xfrm>
          <a:prstGeom prst="line">
            <a:avLst/>
          </a:prstGeom>
          <a:noFill/>
          <a:ln w="25400">
            <a:solidFill>
              <a:srgbClr val="64748B"/>
            </a:solidFill>
            <a:prstDash val="solid"/>
            <a:tailEnd type="triangle"/>
          </a:ln>
        </p:spPr>
      </p:sp>
      <p:sp>
        <p:nvSpPr>
          <p:cNvPr id="21" name="Shape 19"/>
          <p:cNvSpPr/>
          <p:nvPr/>
        </p:nvSpPr>
        <p:spPr>
          <a:xfrm>
            <a:off x="8961120" y="2880360"/>
            <a:ext cx="1600200" cy="1051560"/>
          </a:xfrm>
          <a:prstGeom prst="roundRect">
            <a:avLst>
              <a:gd name="adj" fmla="val 8696"/>
            </a:avLst>
          </a:prstGeom>
          <a:solidFill>
            <a:srgbClr val="F4A261"/>
          </a:solidFill>
          <a:ln/>
          <a:effectLst>
            <a:outerShdw blurRad="88900" dist="38100" dir="8100000" algn="bl" rotWithShape="0">
              <a:srgbClr val="000000">
                <a:alpha val="16000"/>
              </a:srgbClr>
            </a:outerShdw>
          </a:effectLst>
        </p:spPr>
      </p:sp>
      <p:sp>
        <p:nvSpPr>
          <p:cNvPr id="22" name="Text 20"/>
          <p:cNvSpPr/>
          <p:nvPr/>
        </p:nvSpPr>
        <p:spPr>
          <a:xfrm>
            <a:off x="8961120" y="2880360"/>
            <a:ext cx="1600200" cy="777240"/>
          </a:xfrm>
          <a:prstGeom prst="rect">
            <a:avLst/>
          </a:prstGeom>
          <a:noFill/>
          <a:ln/>
        </p:spPr>
        <p:txBody>
          <a:bodyPr wrap="square" lIns="0" tIns="0" rIns="0" bIns="0" rtlCol="0" anchor="ctr"/>
          <a:lstStyle/>
          <a:p>
            <a:pPr marL="0" indent="0" algn="ctr">
              <a:buNone/>
            </a:pPr>
            <a:r>
              <a:rPr lang="en-US" sz="4400" b="1" dirty="0">
                <a:solidFill>
                  <a:srgbClr val="FFFFFF"/>
                </a:solidFill>
                <a:latin typeface="Georgia" pitchFamily="34" charset="0"/>
                <a:ea typeface="Georgia" pitchFamily="34" charset="-122"/>
                <a:cs typeface="Georgia" pitchFamily="34" charset="-120"/>
              </a:rPr>
              <a:t>?</a:t>
            </a:r>
            <a:endParaRPr lang="en-US" sz="4400" dirty="0"/>
          </a:p>
        </p:txBody>
      </p:sp>
      <p:sp>
        <p:nvSpPr>
          <p:cNvPr id="23" name="Text 21"/>
          <p:cNvSpPr/>
          <p:nvPr/>
        </p:nvSpPr>
        <p:spPr>
          <a:xfrm>
            <a:off x="8961120" y="3584448"/>
            <a:ext cx="160020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item tiếp theo</a:t>
            </a:r>
            <a:endParaRPr lang="en-US" sz="1000" dirty="0"/>
          </a:p>
        </p:txBody>
      </p:sp>
      <p:sp>
        <p:nvSpPr>
          <p:cNvPr id="24" name="Text 22"/>
          <p:cNvSpPr/>
          <p:nvPr/>
        </p:nvSpPr>
        <p:spPr>
          <a:xfrm>
            <a:off x="548640" y="4343400"/>
            <a:ext cx="10972800" cy="365760"/>
          </a:xfrm>
          <a:prstGeom prst="rect">
            <a:avLst/>
          </a:prstGeom>
          <a:noFill/>
          <a:ln/>
        </p:spPr>
        <p:txBody>
          <a:bodyPr wrap="square" lIns="0" tIns="0" rIns="0" bIns="0" rtlCol="0" anchor="ctr"/>
          <a:lstStyle/>
          <a:p>
            <a:pPr marL="0" indent="0">
              <a:buNone/>
            </a:pPr>
            <a:r>
              <a:rPr lang="en-US" sz="1400" b="1" dirty="0">
                <a:solidFill>
                  <a:srgbClr val="0D2B45"/>
                </a:solidFill>
                <a:latin typeface="Consolas" pitchFamily="34" charset="0"/>
                <a:ea typeface="Consolas" pitchFamily="34" charset="-122"/>
                <a:cs typeface="Consolas" pitchFamily="34" charset="-120"/>
              </a:rPr>
              <a:t>Phiên (session)  s = [i₁, i₂, …, iₙ]</a:t>
            </a:r>
            <a:r>
              <a:rPr lang="en-US" sz="1400" dirty="0">
                <a:solidFill>
                  <a:srgbClr val="64748B"/>
                </a:solidFill>
                <a:latin typeface="Consolas" pitchFamily="34" charset="0"/>
                <a:ea typeface="Consolas" pitchFamily="34" charset="-122"/>
                <a:cs typeface="Consolas" pitchFamily="34" charset="-120"/>
              </a:rPr>
              <a:t>      →      dự đoán iₙ₊₁ từ catalog hàng trăm nghìn item</a:t>
            </a:r>
            <a:endParaRPr lang="en-US" sz="1400" dirty="0"/>
          </a:p>
        </p:txBody>
      </p:sp>
      <p:sp>
        <p:nvSpPr>
          <p:cNvPr id="25" name="Text 23"/>
          <p:cNvSpPr/>
          <p:nvPr/>
        </p:nvSpPr>
        <p:spPr>
          <a:xfrm>
            <a:off x="548640" y="4983480"/>
            <a:ext cx="10972800" cy="457200"/>
          </a:xfrm>
          <a:prstGeom prst="rect">
            <a:avLst/>
          </a:prstGeom>
          <a:noFill/>
          <a:ln/>
        </p:spPr>
        <p:txBody>
          <a:bodyPr wrap="square" lIns="0" tIns="0" rIns="0" bIns="0" rtlCol="0" anchor="ctr"/>
          <a:lstStyle/>
          <a:p>
            <a:pPr marL="0" indent="0">
              <a:buNone/>
            </a:pPr>
            <a:r>
              <a:rPr lang="en-US" sz="1700" b="1" dirty="0">
                <a:solidFill>
                  <a:srgbClr val="F4A261"/>
                </a:solidFill>
                <a:latin typeface="Calibri" pitchFamily="34" charset="0"/>
                <a:ea typeface="Calibri" pitchFamily="34" charset="-122"/>
                <a:cs typeface="Calibri" pitchFamily="34" charset="-120"/>
              </a:rPr>
              <a:t>Thách thức cốt lõi:  </a:t>
            </a:r>
            <a:r>
              <a:rPr lang="en-US" sz="1700" dirty="0">
                <a:solidFill>
                  <a:srgbClr val="1E293B"/>
                </a:solidFill>
                <a:latin typeface="Calibri" pitchFamily="34" charset="0"/>
                <a:ea typeface="Calibri" pitchFamily="34" charset="-122"/>
                <a:cs typeface="Calibri" pitchFamily="34" charset="-120"/>
              </a:rPr>
              <a:t>làm sao mô hình “hiểu” được ý định của phiên chỉ từ vài item?</a:t>
            </a:r>
            <a:endParaRPr lang="en-US" sz="1700" dirty="0"/>
          </a:p>
        </p:txBody>
      </p:sp>
      <p:sp>
        <p:nvSpPr>
          <p:cNvPr id="26" name="Text 24"/>
          <p:cNvSpPr/>
          <p:nvPr/>
        </p:nvSpPr>
        <p:spPr>
          <a:xfrm>
            <a:off x="548640" y="5532120"/>
            <a:ext cx="10972800" cy="274320"/>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Hidasi et al., 2016 — Session-based Recommendations with Recurrent Neural Networks</a:t>
            </a:r>
            <a:endParaRPr lang="en-US" sz="1000" dirty="0"/>
          </a:p>
        </p:txBody>
      </p:sp>
      <p:sp>
        <p:nvSpPr>
          <p:cNvPr id="27" name="Text 25"/>
          <p:cNvSpPr/>
          <p:nvPr/>
        </p:nvSpPr>
        <p:spPr>
          <a:xfrm>
            <a:off x="548640" y="6473952"/>
            <a:ext cx="54864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CatSA · Background &amp; Motivation</a:t>
            </a:r>
            <a:endParaRPr lang="en-US" sz="900" dirty="0"/>
          </a:p>
        </p:txBody>
      </p:sp>
      <p:sp>
        <p:nvSpPr>
          <p:cNvPr id="28" name="Text 26"/>
          <p:cNvSpPr/>
          <p:nvPr/>
        </p:nvSpPr>
        <p:spPr>
          <a:xfrm>
            <a:off x="11155680" y="6473952"/>
            <a:ext cx="4572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a:t>
            </a:r>
            <a:endParaRPr lang="en-US" sz="9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lIns="0" tIns="0" rIns="0" bIns="0" rtlCol="0" anchor="ctr"/>
          <a:lstStyle/>
          <a:p>
            <a:pPr marL="0" indent="0">
              <a:buNone/>
            </a:pPr>
            <a:r>
              <a:rPr lang="en-US" sz="1200" b="1" kern="0" spc="300" dirty="0">
                <a:solidFill>
                  <a:srgbClr val="0E7C7B"/>
                </a:solidFill>
                <a:latin typeface="Arial" pitchFamily="34" charset="0"/>
                <a:ea typeface="Arial" pitchFamily="34" charset="-122"/>
                <a:cs typeface="Arial" pitchFamily="34" charset="-120"/>
              </a:rPr>
              <a:t>NỀN TẢNG</a:t>
            </a:r>
            <a:endParaRPr lang="en-US" sz="12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0D2B45"/>
                </a:solidFill>
                <a:latin typeface="Georgia" pitchFamily="34" charset="0"/>
                <a:ea typeface="Georgia" pitchFamily="34" charset="-122"/>
                <a:cs typeface="Georgia" pitchFamily="34" charset="-120"/>
              </a:rPr>
              <a:t>Trái tim của mọi hệ gợi ý: biểu diễn item</a:t>
            </a:r>
            <a:endParaRPr lang="en-US" sz="3000" dirty="0"/>
          </a:p>
        </p:txBody>
      </p:sp>
      <p:sp>
        <p:nvSpPr>
          <p:cNvPr id="4" name="Text 2"/>
          <p:cNvSpPr/>
          <p:nvPr/>
        </p:nvSpPr>
        <p:spPr>
          <a:xfrm>
            <a:off x="548640" y="1627632"/>
            <a:ext cx="5669280" cy="1371600"/>
          </a:xfrm>
          <a:prstGeom prst="rect">
            <a:avLst/>
          </a:prstGeom>
          <a:noFill/>
          <a:ln/>
        </p:spPr>
        <p:txBody>
          <a:bodyPr wrap="square" lIns="0" tIns="0" rIns="0" bIns="0" rtlCol="0" anchor="ctr"/>
          <a:lstStyle/>
          <a:p>
            <a:pPr marL="0" indent="0" algn="l">
              <a:lnSpc>
                <a:spcPct val="115000"/>
              </a:lnSpc>
              <a:buNone/>
            </a:pPr>
            <a:r>
              <a:rPr lang="en-US" sz="1600" dirty="0">
                <a:solidFill>
                  <a:srgbClr val="1E293B"/>
                </a:solidFill>
                <a:latin typeface="Calibri" pitchFamily="34" charset="0"/>
                <a:ea typeface="Calibri" pitchFamily="34" charset="-122"/>
                <a:cs typeface="Calibri" pitchFamily="34" charset="-120"/>
              </a:rPr>
              <a:t>Mỗi item được gán một vector số (embedding). Qua huấn luyện trên hàng triệu phiên, các vector tự sắp xếp sao cho item liên quan trong thực tế thì gần nhau trong không gian biểu diễn.</a:t>
            </a:r>
            <a:endParaRPr lang="en-US" sz="1600" dirty="0"/>
          </a:p>
        </p:txBody>
      </p:sp>
      <p:sp>
        <p:nvSpPr>
          <p:cNvPr id="5" name="Text 3"/>
          <p:cNvSpPr/>
          <p:nvPr/>
        </p:nvSpPr>
        <p:spPr>
          <a:xfrm>
            <a:off x="548640" y="3063240"/>
            <a:ext cx="5669280" cy="914400"/>
          </a:xfrm>
          <a:prstGeom prst="rect">
            <a:avLst/>
          </a:prstGeom>
          <a:noFill/>
          <a:ln/>
        </p:spPr>
        <p:txBody>
          <a:bodyPr wrap="square" lIns="0" tIns="0" rIns="0" bIns="0" rtlCol="0" anchor="ctr"/>
          <a:lstStyle/>
          <a:p>
            <a:pPr marL="0" indent="0">
              <a:lnSpc>
                <a:spcPct val="110000"/>
              </a:lnSpc>
              <a:buNone/>
            </a:pPr>
            <a:r>
              <a:rPr lang="en-US" sz="1500" b="1" dirty="0">
                <a:solidFill>
                  <a:srgbClr val="0E7C7B"/>
                </a:solidFill>
                <a:latin typeface="Calibri" pitchFamily="34" charset="0"/>
                <a:ea typeface="Calibri" pitchFamily="34" charset="-122"/>
                <a:cs typeface="Calibri" pitchFamily="34" charset="-120"/>
              </a:rPr>
              <a:t>Cơ chế:  </a:t>
            </a:r>
            <a:r>
              <a:rPr lang="en-US" sz="1500" dirty="0">
                <a:solidFill>
                  <a:srgbClr val="1E293B"/>
                </a:solidFill>
                <a:latin typeface="Calibri" pitchFamily="34" charset="0"/>
                <a:ea typeface="Calibri" pitchFamily="34" charset="-122"/>
                <a:cs typeface="Calibri" pitchFamily="34" charset="-120"/>
              </a:rPr>
              <a:t>hàm mất mát cross-entropy kéo session embedding z</a:t>
            </a:r>
            <a:r>
              <a:rPr lang="en-US" sz="1500" baseline="-40000" dirty="0">
                <a:solidFill>
                  <a:srgbClr val="1E293B"/>
                </a:solidFill>
                <a:latin typeface="Calibri" pitchFamily="34" charset="0"/>
                <a:ea typeface="Calibri" pitchFamily="34" charset="-122"/>
                <a:cs typeface="Calibri" pitchFamily="34" charset="-120"/>
              </a:rPr>
              <a:t>s</a:t>
            </a:r>
            <a:r>
              <a:rPr lang="en-US" sz="1500" dirty="0">
                <a:solidFill>
                  <a:srgbClr val="1E293B"/>
                </a:solidFill>
                <a:latin typeface="Calibri" pitchFamily="34" charset="0"/>
                <a:ea typeface="Calibri" pitchFamily="34" charset="-122"/>
                <a:cs typeface="Calibri" pitchFamily="34" charset="-120"/>
              </a:rPr>
              <a:t> gần item đúng tiếp theo, đẩy xa các item khác.</a:t>
            </a:r>
            <a:endParaRPr lang="en-US" sz="1500" dirty="0"/>
          </a:p>
        </p:txBody>
      </p:sp>
      <p:sp>
        <p:nvSpPr>
          <p:cNvPr id="6" name="Shape 4"/>
          <p:cNvSpPr/>
          <p:nvPr/>
        </p:nvSpPr>
        <p:spPr>
          <a:xfrm>
            <a:off x="6675120" y="1783080"/>
            <a:ext cx="4937760" cy="3657600"/>
          </a:xfrm>
          <a:prstGeom prst="roundRect">
            <a:avLst>
              <a:gd name="adj" fmla="val 2000"/>
            </a:avLst>
          </a:prstGeom>
          <a:solidFill>
            <a:srgbClr val="F1F5F9"/>
          </a:solidFill>
          <a:ln w="12700">
            <a:solidFill>
              <a:srgbClr val="CBD5E1"/>
            </a:solidFill>
            <a:prstDash val="solid"/>
          </a:ln>
        </p:spPr>
      </p:sp>
      <p:sp>
        <p:nvSpPr>
          <p:cNvPr id="7" name="Text 5"/>
          <p:cNvSpPr/>
          <p:nvPr/>
        </p:nvSpPr>
        <p:spPr>
          <a:xfrm>
            <a:off x="6675120" y="1892808"/>
            <a:ext cx="4937760" cy="274320"/>
          </a:xfrm>
          <a:prstGeom prst="rect">
            <a:avLst/>
          </a:prstGeom>
          <a:noFill/>
          <a:ln/>
        </p:spPr>
        <p:txBody>
          <a:bodyPr wrap="square" lIns="0" tIns="0" rIns="0" bIns="0" rtlCol="0" anchor="ctr"/>
          <a:lstStyle/>
          <a:p>
            <a:pPr marL="0" indent="0" algn="ctr">
              <a:buNone/>
            </a:pPr>
            <a:r>
              <a:rPr lang="en-US" sz="1100" i="1" dirty="0">
                <a:solidFill>
                  <a:srgbClr val="64748B"/>
                </a:solidFill>
                <a:latin typeface="Calibri" pitchFamily="34" charset="0"/>
                <a:ea typeface="Calibri" pitchFamily="34" charset="-122"/>
                <a:cs typeface="Calibri" pitchFamily="34" charset="-120"/>
              </a:rPr>
              <a:t>Không gian biểu diễn (embedding space)</a:t>
            </a:r>
            <a:endParaRPr lang="en-US" sz="1100" dirty="0"/>
          </a:p>
        </p:txBody>
      </p:sp>
      <p:sp>
        <p:nvSpPr>
          <p:cNvPr id="8" name="Shape 6"/>
          <p:cNvSpPr/>
          <p:nvPr/>
        </p:nvSpPr>
        <p:spPr>
          <a:xfrm>
            <a:off x="8001000" y="2788920"/>
            <a:ext cx="256032" cy="256032"/>
          </a:xfrm>
          <a:prstGeom prst="ellipse">
            <a:avLst/>
          </a:prstGeom>
          <a:solidFill>
            <a:srgbClr val="0E7C7B"/>
          </a:solidFill>
          <a:ln/>
        </p:spPr>
      </p:sp>
      <p:sp>
        <p:nvSpPr>
          <p:cNvPr id="9" name="Shape 7"/>
          <p:cNvSpPr/>
          <p:nvPr/>
        </p:nvSpPr>
        <p:spPr>
          <a:xfrm>
            <a:off x="8412480" y="3017520"/>
            <a:ext cx="256032" cy="256032"/>
          </a:xfrm>
          <a:prstGeom prst="ellipse">
            <a:avLst/>
          </a:prstGeom>
          <a:solidFill>
            <a:srgbClr val="0E7C7B"/>
          </a:solidFill>
          <a:ln/>
        </p:spPr>
      </p:sp>
      <p:sp>
        <p:nvSpPr>
          <p:cNvPr id="10" name="Shape 8"/>
          <p:cNvSpPr/>
          <p:nvPr/>
        </p:nvSpPr>
        <p:spPr>
          <a:xfrm>
            <a:off x="8229600" y="2542032"/>
            <a:ext cx="256032" cy="256032"/>
          </a:xfrm>
          <a:prstGeom prst="ellipse">
            <a:avLst/>
          </a:prstGeom>
          <a:solidFill>
            <a:srgbClr val="0E7C7B"/>
          </a:solidFill>
          <a:ln/>
        </p:spPr>
      </p:sp>
      <p:sp>
        <p:nvSpPr>
          <p:cNvPr id="11" name="Shape 9"/>
          <p:cNvSpPr/>
          <p:nvPr/>
        </p:nvSpPr>
        <p:spPr>
          <a:xfrm>
            <a:off x="7818120" y="2395728"/>
            <a:ext cx="1051560" cy="960120"/>
          </a:xfrm>
          <a:prstGeom prst="ellipse">
            <a:avLst/>
          </a:prstGeom>
          <a:ln w="15240">
            <a:solidFill>
              <a:srgbClr val="0E7C7B"/>
            </a:solidFill>
            <a:prstDash val="dash"/>
          </a:ln>
        </p:spPr>
      </p:sp>
      <p:sp>
        <p:nvSpPr>
          <p:cNvPr id="12" name="Text 10"/>
          <p:cNvSpPr/>
          <p:nvPr/>
        </p:nvSpPr>
        <p:spPr>
          <a:xfrm>
            <a:off x="7315200" y="2084832"/>
            <a:ext cx="2103120" cy="256032"/>
          </a:xfrm>
          <a:prstGeom prst="rect">
            <a:avLst/>
          </a:prstGeom>
          <a:noFill/>
          <a:ln/>
        </p:spPr>
        <p:txBody>
          <a:bodyPr wrap="square" lIns="0" tIns="0" rIns="0" bIns="0" rtlCol="0" anchor="ctr"/>
          <a:lstStyle/>
          <a:p>
            <a:pPr marL="0" indent="0" algn="ctr">
              <a:buNone/>
            </a:pPr>
            <a:r>
              <a:rPr lang="en-US" sz="1100" b="1" dirty="0">
                <a:solidFill>
                  <a:srgbClr val="0E7C7B"/>
                </a:solidFill>
                <a:latin typeface="Calibri" pitchFamily="34" charset="0"/>
                <a:ea typeface="Calibri" pitchFamily="34" charset="-122"/>
                <a:cs typeface="Calibri" pitchFamily="34" charset="-120"/>
              </a:rPr>
              <a:t>điện thoại (cụm gần)</a:t>
            </a:r>
            <a:endParaRPr lang="en-US" sz="1100" dirty="0"/>
          </a:p>
        </p:txBody>
      </p:sp>
      <p:sp>
        <p:nvSpPr>
          <p:cNvPr id="13" name="Shape 11"/>
          <p:cNvSpPr/>
          <p:nvPr/>
        </p:nvSpPr>
        <p:spPr>
          <a:xfrm>
            <a:off x="10607040" y="4480560"/>
            <a:ext cx="274320" cy="274320"/>
          </a:xfrm>
          <a:prstGeom prst="ellipse">
            <a:avLst/>
          </a:prstGeom>
          <a:solidFill>
            <a:srgbClr val="F4A261"/>
          </a:solidFill>
          <a:ln/>
        </p:spPr>
      </p:sp>
      <p:sp>
        <p:nvSpPr>
          <p:cNvPr id="14" name="Text 12"/>
          <p:cNvSpPr/>
          <p:nvPr/>
        </p:nvSpPr>
        <p:spPr>
          <a:xfrm>
            <a:off x="9966960" y="4754880"/>
            <a:ext cx="1554480" cy="228600"/>
          </a:xfrm>
          <a:prstGeom prst="rect">
            <a:avLst/>
          </a:prstGeom>
          <a:noFill/>
          <a:ln/>
        </p:spPr>
        <p:txBody>
          <a:bodyPr wrap="square" lIns="0" tIns="0" rIns="0" bIns="0" rtlCol="0" anchor="ctr"/>
          <a:lstStyle/>
          <a:p>
            <a:pPr marL="0" indent="0" algn="ctr">
              <a:buNone/>
            </a:pPr>
            <a:r>
              <a:rPr lang="en-US" sz="1000" b="1" dirty="0">
                <a:solidFill>
                  <a:srgbClr val="F4A261"/>
                </a:solidFill>
                <a:latin typeface="Calibri" pitchFamily="34" charset="0"/>
                <a:ea typeface="Calibri" pitchFamily="34" charset="-122"/>
                <a:cs typeface="Calibri" pitchFamily="34" charset="-120"/>
              </a:rPr>
              <a:t>Nồi cơm điện</a:t>
            </a:r>
            <a:endParaRPr lang="en-US" sz="1000" dirty="0"/>
          </a:p>
        </p:txBody>
      </p:sp>
      <p:sp>
        <p:nvSpPr>
          <p:cNvPr id="15" name="Shape 13"/>
          <p:cNvSpPr/>
          <p:nvPr/>
        </p:nvSpPr>
        <p:spPr>
          <a:xfrm>
            <a:off x="8641080" y="2971800"/>
            <a:ext cx="2011680" cy="1554480"/>
          </a:xfrm>
          <a:prstGeom prst="line">
            <a:avLst/>
          </a:prstGeom>
          <a:noFill/>
          <a:ln w="15240">
            <a:solidFill>
              <a:srgbClr val="64748B"/>
            </a:solidFill>
            <a:prstDash val="sysDot"/>
            <a:headEnd type="oval"/>
            <a:tailEnd type="triangle"/>
          </a:ln>
        </p:spPr>
      </p:sp>
      <p:sp>
        <p:nvSpPr>
          <p:cNvPr id="16" name="Text 14"/>
          <p:cNvSpPr/>
          <p:nvPr/>
        </p:nvSpPr>
        <p:spPr>
          <a:xfrm>
            <a:off x="9326880" y="3520440"/>
            <a:ext cx="640080" cy="274320"/>
          </a:xfrm>
          <a:prstGeom prst="rect">
            <a:avLst/>
          </a:prstGeom>
          <a:noFill/>
          <a:ln/>
        </p:spPr>
        <p:txBody>
          <a:bodyPr wrap="square" lIns="0" tIns="0" rIns="0" bIns="0" rtlCol="0" anchor="ctr"/>
          <a:lstStyle/>
          <a:p>
            <a:pPr marL="0" indent="0" algn="ctr">
              <a:buNone/>
            </a:pPr>
            <a:r>
              <a:rPr lang="en-US" sz="1100" i="1" dirty="0">
                <a:solidFill>
                  <a:srgbClr val="64748B"/>
                </a:solidFill>
                <a:latin typeface="Calibri" pitchFamily="34" charset="0"/>
                <a:ea typeface="Calibri" pitchFamily="34" charset="-122"/>
                <a:cs typeface="Calibri" pitchFamily="34" charset="-120"/>
              </a:rPr>
              <a:t>xa</a:t>
            </a:r>
            <a:endParaRPr lang="en-US" sz="1100" dirty="0"/>
          </a:p>
        </p:txBody>
      </p:sp>
      <p:sp>
        <p:nvSpPr>
          <p:cNvPr id="17" name="Text 15"/>
          <p:cNvSpPr/>
          <p:nvPr/>
        </p:nvSpPr>
        <p:spPr>
          <a:xfrm>
            <a:off x="6675120" y="5029200"/>
            <a:ext cx="4937760" cy="320040"/>
          </a:xfrm>
          <a:prstGeom prst="rect">
            <a:avLst/>
          </a:prstGeom>
          <a:noFill/>
          <a:ln/>
        </p:spPr>
        <p:txBody>
          <a:bodyPr wrap="square" lIns="0" tIns="0" rIns="0" bIns="0" rtlCol="0" anchor="ctr"/>
          <a:lstStyle/>
          <a:p>
            <a:pPr marL="0" indent="0" algn="ctr">
              <a:buNone/>
            </a:pPr>
            <a:r>
              <a:rPr lang="en-US" sz="1100" b="1" i="1" dirty="0">
                <a:solidFill>
                  <a:srgbClr val="0D2B45"/>
                </a:solidFill>
                <a:latin typeface="Calibri" pitchFamily="34" charset="0"/>
                <a:ea typeface="Calibri" pitchFamily="34" charset="-122"/>
                <a:cs typeface="Calibri" pitchFamily="34" charset="-120"/>
              </a:rPr>
              <a:t>“Items gần nhau trong thực tế → gần nhau trong không gian số”</a:t>
            </a:r>
            <a:endParaRPr lang="en-US" sz="1100" dirty="0"/>
          </a:p>
        </p:txBody>
      </p:sp>
      <p:sp>
        <p:nvSpPr>
          <p:cNvPr id="18" name="Text 16"/>
          <p:cNvSpPr/>
          <p:nvPr/>
        </p:nvSpPr>
        <p:spPr>
          <a:xfrm>
            <a:off x="548640" y="6473952"/>
            <a:ext cx="54864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CatSA · Background &amp; Motivation</a:t>
            </a:r>
            <a:endParaRPr lang="en-US" sz="900" dirty="0"/>
          </a:p>
        </p:txBody>
      </p:sp>
      <p:sp>
        <p:nvSpPr>
          <p:cNvPr id="19" name="Text 17"/>
          <p:cNvSpPr/>
          <p:nvPr/>
        </p:nvSpPr>
        <p:spPr>
          <a:xfrm>
            <a:off x="11155680" y="6473952"/>
            <a:ext cx="4572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3</a:t>
            </a:r>
            <a:endParaRPr lang="en-US" sz="9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lIns="0" tIns="0" rIns="0" bIns="0" rtlCol="0" anchor="ctr"/>
          <a:lstStyle/>
          <a:p>
            <a:pPr marL="0" indent="0">
              <a:buNone/>
            </a:pPr>
            <a:r>
              <a:rPr lang="en-US" sz="1200" b="1" kern="0" spc="300" dirty="0">
                <a:solidFill>
                  <a:srgbClr val="0E7C7B"/>
                </a:solidFill>
                <a:latin typeface="Arial" pitchFamily="34" charset="0"/>
                <a:ea typeface="Arial" pitchFamily="34" charset="-122"/>
                <a:cs typeface="Arial" pitchFamily="34" charset="-120"/>
              </a:rPr>
              <a:t>HƯỚNG PHÁT TRIỂN 1 · TIER 1 BASELINES</a:t>
            </a:r>
            <a:endParaRPr lang="en-US" sz="12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0D2B45"/>
                </a:solidFill>
                <a:latin typeface="Georgia" pitchFamily="34" charset="0"/>
                <a:ea typeface="Georgia" pitchFamily="34" charset="-122"/>
                <a:cs typeface="Georgia" pitchFamily="34" charset="-120"/>
              </a:rPr>
              <a:t>Kiến trúc mạng nơ-ron đồ thị (GNN)</a:t>
            </a:r>
            <a:endParaRPr lang="en-US" sz="3000" dirty="0"/>
          </a:p>
        </p:txBody>
      </p:sp>
      <p:sp>
        <p:nvSpPr>
          <p:cNvPr id="4" name="Shape 2"/>
          <p:cNvSpPr/>
          <p:nvPr/>
        </p:nvSpPr>
        <p:spPr>
          <a:xfrm>
            <a:off x="10744200" y="457200"/>
            <a:ext cx="868680" cy="384048"/>
          </a:xfrm>
          <a:prstGeom prst="roundRect">
            <a:avLst>
              <a:gd name="adj" fmla="val 19048"/>
            </a:avLst>
          </a:prstGeom>
          <a:solidFill>
            <a:srgbClr val="0E7C7B"/>
          </a:solidFill>
          <a:ln/>
        </p:spPr>
      </p:sp>
      <p:sp>
        <p:nvSpPr>
          <p:cNvPr id="5" name="Text 3"/>
          <p:cNvSpPr/>
          <p:nvPr/>
        </p:nvSpPr>
        <p:spPr>
          <a:xfrm>
            <a:off x="10744200" y="457200"/>
            <a:ext cx="86868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TIER 1</a:t>
            </a:r>
            <a:endParaRPr lang="en-US" sz="1300" dirty="0"/>
          </a:p>
        </p:txBody>
      </p:sp>
      <p:sp>
        <p:nvSpPr>
          <p:cNvPr id="6" name="Text 4"/>
          <p:cNvSpPr/>
          <p:nvPr/>
        </p:nvSpPr>
        <p:spPr>
          <a:xfrm>
            <a:off x="548640" y="1572768"/>
            <a:ext cx="11064240" cy="640080"/>
          </a:xfrm>
          <a:prstGeom prst="rect">
            <a:avLst/>
          </a:prstGeom>
          <a:noFill/>
          <a:ln/>
        </p:spPr>
        <p:txBody>
          <a:bodyPr wrap="square" lIns="0" tIns="0" rIns="0" bIns="0" rtlCol="0" anchor="ctr"/>
          <a:lstStyle/>
          <a:p>
            <a:pPr marL="0" indent="0">
              <a:lnSpc>
                <a:spcPct val="105000"/>
              </a:lnSpc>
              <a:buNone/>
            </a:pPr>
            <a:r>
              <a:rPr lang="en-US" sz="1500" dirty="0">
                <a:solidFill>
                  <a:srgbClr val="1E293B"/>
                </a:solidFill>
                <a:latin typeface="Calibri" pitchFamily="34" charset="0"/>
                <a:ea typeface="Calibri" pitchFamily="34" charset="-122"/>
                <a:cs typeface="Calibri" pitchFamily="34" charset="-120"/>
              </a:rPr>
              <a:t>Phiên có cấu trúc trình tự → biểu diễn bằng đồ thị, dùng GNN truyền thông tin giữa các item. Đây là paradigm backbone dominant của SBR từ 2019.</a:t>
            </a:r>
            <a:endParaRPr lang="en-US" sz="1500" dirty="0"/>
          </a:p>
        </p:txBody>
      </p:sp>
      <p:sp>
        <p:nvSpPr>
          <p:cNvPr id="7" name="Shape 5"/>
          <p:cNvSpPr/>
          <p:nvPr/>
        </p:nvSpPr>
        <p:spPr>
          <a:xfrm>
            <a:off x="548640" y="2377440"/>
            <a:ext cx="2670048" cy="2788920"/>
          </a:xfrm>
          <a:prstGeom prst="roundRect">
            <a:avLst>
              <a:gd name="adj" fmla="val 2740"/>
            </a:avLst>
          </a:prstGeom>
          <a:solidFill>
            <a:srgbClr val="FFFFFF"/>
          </a:solidFill>
          <a:ln w="12700">
            <a:solidFill>
              <a:srgbClr val="CBD5E1"/>
            </a:solidFill>
            <a:prstDash val="solid"/>
          </a:ln>
          <a:effectLst>
            <a:outerShdw blurRad="88900" dist="38100" dir="8100000" algn="bl" rotWithShape="0">
              <a:srgbClr val="000000">
                <a:alpha val="16000"/>
              </a:srgbClr>
            </a:outerShdw>
          </a:effectLst>
        </p:spPr>
      </p:sp>
      <p:sp>
        <p:nvSpPr>
          <p:cNvPr id="8" name="Shape 6"/>
          <p:cNvSpPr/>
          <p:nvPr/>
        </p:nvSpPr>
        <p:spPr>
          <a:xfrm>
            <a:off x="777240" y="2633472"/>
            <a:ext cx="548640" cy="548640"/>
          </a:xfrm>
          <a:prstGeom prst="ellipse">
            <a:avLst/>
          </a:prstGeom>
          <a:solidFill>
            <a:srgbClr val="0D2B45"/>
          </a:solidFill>
          <a:ln/>
        </p:spPr>
      </p:sp>
      <p:sp>
        <p:nvSpPr>
          <p:cNvPr id="9" name="Text 7"/>
          <p:cNvSpPr/>
          <p:nvPr/>
        </p:nvSpPr>
        <p:spPr>
          <a:xfrm>
            <a:off x="777240" y="2633472"/>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1</a:t>
            </a:r>
            <a:endParaRPr lang="en-US" sz="2200" dirty="0"/>
          </a:p>
        </p:txBody>
      </p:sp>
      <p:sp>
        <p:nvSpPr>
          <p:cNvPr id="10" name="Text 8"/>
          <p:cNvSpPr/>
          <p:nvPr/>
        </p:nvSpPr>
        <p:spPr>
          <a:xfrm>
            <a:off x="777240" y="3291840"/>
            <a:ext cx="2212848" cy="384048"/>
          </a:xfrm>
          <a:prstGeom prst="rect">
            <a:avLst/>
          </a:prstGeom>
          <a:noFill/>
          <a:ln/>
        </p:spPr>
        <p:txBody>
          <a:bodyPr wrap="square" lIns="0" tIns="0" rIns="0" bIns="0" rtlCol="0" anchor="ctr"/>
          <a:lstStyle/>
          <a:p>
            <a:pPr marL="0" indent="0">
              <a:buNone/>
            </a:pPr>
            <a:r>
              <a:rPr lang="en-US" sz="1900" b="1" dirty="0">
                <a:solidFill>
                  <a:srgbClr val="0D2B45"/>
                </a:solidFill>
                <a:latin typeface="Georgia" pitchFamily="34" charset="0"/>
                <a:ea typeface="Georgia" pitchFamily="34" charset="-122"/>
                <a:cs typeface="Georgia" pitchFamily="34" charset="-120"/>
              </a:rPr>
              <a:t>SR-GNN</a:t>
            </a:r>
            <a:endParaRPr lang="en-US" sz="1900" dirty="0"/>
          </a:p>
        </p:txBody>
      </p:sp>
      <p:sp>
        <p:nvSpPr>
          <p:cNvPr id="11" name="Text 9"/>
          <p:cNvSpPr/>
          <p:nvPr/>
        </p:nvSpPr>
        <p:spPr>
          <a:xfrm>
            <a:off x="777240" y="3675888"/>
            <a:ext cx="2212848" cy="274320"/>
          </a:xfrm>
          <a:prstGeom prst="rect">
            <a:avLst/>
          </a:prstGeom>
          <a:noFill/>
          <a:ln/>
        </p:spPr>
        <p:txBody>
          <a:bodyPr wrap="square" lIns="0" tIns="0" rIns="0" bIns="0" rtlCol="0" anchor="ctr"/>
          <a:lstStyle/>
          <a:p>
            <a:pPr marL="0" indent="0">
              <a:buNone/>
            </a:pPr>
            <a:r>
              <a:rPr lang="en-US" sz="1050" i="1" dirty="0">
                <a:solidFill>
                  <a:srgbClr val="0E7C7B"/>
                </a:solidFill>
                <a:latin typeface="Calibri" pitchFamily="34" charset="0"/>
                <a:ea typeface="Calibri" pitchFamily="34" charset="-122"/>
                <a:cs typeface="Calibri" pitchFamily="34" charset="-120"/>
              </a:rPr>
              <a:t>Wu et al., AAAI 2019</a:t>
            </a:r>
            <a:endParaRPr lang="en-US" sz="1050" dirty="0"/>
          </a:p>
        </p:txBody>
      </p:sp>
      <p:sp>
        <p:nvSpPr>
          <p:cNvPr id="12" name="Text 10"/>
          <p:cNvSpPr/>
          <p:nvPr/>
        </p:nvSpPr>
        <p:spPr>
          <a:xfrm>
            <a:off x="777240" y="4005072"/>
            <a:ext cx="2212848" cy="1005840"/>
          </a:xfrm>
          <a:prstGeom prst="rect">
            <a:avLst/>
          </a:prstGeom>
          <a:noFill/>
          <a:ln/>
        </p:spPr>
        <p:txBody>
          <a:bodyPr wrap="square" lIns="0" tIns="0" rIns="0" bIns="0" rtlCol="0" anchor="ctr"/>
          <a:lstStyle/>
          <a:p>
            <a:pPr marL="0" indent="0">
              <a:lnSpc>
                <a:spcPct val="102000"/>
              </a:lnSpc>
              <a:buNone/>
            </a:pPr>
            <a:r>
              <a:rPr lang="en-US" sz="1200" dirty="0">
                <a:solidFill>
                  <a:srgbClr val="1E293B"/>
                </a:solidFill>
                <a:latin typeface="Calibri" pitchFamily="34" charset="0"/>
                <a:ea typeface="Calibri" pitchFamily="34" charset="-122"/>
                <a:cs typeface="Calibri" pitchFamily="34" charset="-120"/>
              </a:rPr>
              <a:t>Gated GNN + soft-attention. Phương pháp tiên phong, backbone mà mọi nghiên cứu sau kế thừa.</a:t>
            </a:r>
            <a:endParaRPr lang="en-US" sz="1200" dirty="0"/>
          </a:p>
        </p:txBody>
      </p:sp>
      <p:sp>
        <p:nvSpPr>
          <p:cNvPr id="13" name="Shape 11"/>
          <p:cNvSpPr/>
          <p:nvPr/>
        </p:nvSpPr>
        <p:spPr>
          <a:xfrm>
            <a:off x="3383280" y="2377440"/>
            <a:ext cx="2670048" cy="2788920"/>
          </a:xfrm>
          <a:prstGeom prst="roundRect">
            <a:avLst>
              <a:gd name="adj" fmla="val 2740"/>
            </a:avLst>
          </a:prstGeom>
          <a:solidFill>
            <a:srgbClr val="FFFFFF"/>
          </a:solidFill>
          <a:ln w="12700">
            <a:solidFill>
              <a:srgbClr val="CBD5E1"/>
            </a:solidFill>
            <a:prstDash val="solid"/>
          </a:ln>
          <a:effectLst>
            <a:outerShdw blurRad="88900" dist="38100" dir="8100000" algn="bl" rotWithShape="0">
              <a:srgbClr val="000000">
                <a:alpha val="16000"/>
              </a:srgbClr>
            </a:outerShdw>
          </a:effectLst>
        </p:spPr>
      </p:sp>
      <p:sp>
        <p:nvSpPr>
          <p:cNvPr id="14" name="Shape 12"/>
          <p:cNvSpPr/>
          <p:nvPr/>
        </p:nvSpPr>
        <p:spPr>
          <a:xfrm>
            <a:off x="3611880" y="2633472"/>
            <a:ext cx="548640" cy="548640"/>
          </a:xfrm>
          <a:prstGeom prst="ellipse">
            <a:avLst/>
          </a:prstGeom>
          <a:solidFill>
            <a:srgbClr val="0D2B45"/>
          </a:solidFill>
          <a:ln/>
        </p:spPr>
      </p:sp>
      <p:sp>
        <p:nvSpPr>
          <p:cNvPr id="15" name="Text 13"/>
          <p:cNvSpPr/>
          <p:nvPr/>
        </p:nvSpPr>
        <p:spPr>
          <a:xfrm>
            <a:off x="3611880" y="2633472"/>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2</a:t>
            </a:r>
            <a:endParaRPr lang="en-US" sz="2200" dirty="0"/>
          </a:p>
        </p:txBody>
      </p:sp>
      <p:sp>
        <p:nvSpPr>
          <p:cNvPr id="16" name="Text 14"/>
          <p:cNvSpPr/>
          <p:nvPr/>
        </p:nvSpPr>
        <p:spPr>
          <a:xfrm>
            <a:off x="3611880" y="3291840"/>
            <a:ext cx="2212848" cy="384048"/>
          </a:xfrm>
          <a:prstGeom prst="rect">
            <a:avLst/>
          </a:prstGeom>
          <a:noFill/>
          <a:ln/>
        </p:spPr>
        <p:txBody>
          <a:bodyPr wrap="square" lIns="0" tIns="0" rIns="0" bIns="0" rtlCol="0" anchor="ctr"/>
          <a:lstStyle/>
          <a:p>
            <a:pPr marL="0" indent="0">
              <a:buNone/>
            </a:pPr>
            <a:r>
              <a:rPr lang="en-US" sz="1900" b="1" dirty="0">
                <a:solidFill>
                  <a:srgbClr val="0D2B45"/>
                </a:solidFill>
                <a:latin typeface="Georgia" pitchFamily="34" charset="0"/>
                <a:ea typeface="Georgia" pitchFamily="34" charset="-122"/>
                <a:cs typeface="Georgia" pitchFamily="34" charset="-120"/>
              </a:rPr>
              <a:t>GCE-GNN</a:t>
            </a:r>
            <a:endParaRPr lang="en-US" sz="1900" dirty="0"/>
          </a:p>
        </p:txBody>
      </p:sp>
      <p:sp>
        <p:nvSpPr>
          <p:cNvPr id="17" name="Text 15"/>
          <p:cNvSpPr/>
          <p:nvPr/>
        </p:nvSpPr>
        <p:spPr>
          <a:xfrm>
            <a:off x="3611880" y="3675888"/>
            <a:ext cx="2212848" cy="274320"/>
          </a:xfrm>
          <a:prstGeom prst="rect">
            <a:avLst/>
          </a:prstGeom>
          <a:noFill/>
          <a:ln/>
        </p:spPr>
        <p:txBody>
          <a:bodyPr wrap="square" lIns="0" tIns="0" rIns="0" bIns="0" rtlCol="0" anchor="ctr"/>
          <a:lstStyle/>
          <a:p>
            <a:pPr marL="0" indent="0">
              <a:buNone/>
            </a:pPr>
            <a:r>
              <a:rPr lang="en-US" sz="1050" i="1" dirty="0">
                <a:solidFill>
                  <a:srgbClr val="0E7C7B"/>
                </a:solidFill>
                <a:latin typeface="Calibri" pitchFamily="34" charset="0"/>
                <a:ea typeface="Calibri" pitchFamily="34" charset="-122"/>
                <a:cs typeface="Calibri" pitchFamily="34" charset="-120"/>
              </a:rPr>
              <a:t>Wang et al., SIGIR 2020</a:t>
            </a:r>
            <a:endParaRPr lang="en-US" sz="1050" dirty="0"/>
          </a:p>
        </p:txBody>
      </p:sp>
      <p:sp>
        <p:nvSpPr>
          <p:cNvPr id="18" name="Text 16"/>
          <p:cNvSpPr/>
          <p:nvPr/>
        </p:nvSpPr>
        <p:spPr>
          <a:xfrm>
            <a:off x="3611880" y="4005072"/>
            <a:ext cx="2212848" cy="1005840"/>
          </a:xfrm>
          <a:prstGeom prst="rect">
            <a:avLst/>
          </a:prstGeom>
          <a:noFill/>
          <a:ln/>
        </p:spPr>
        <p:txBody>
          <a:bodyPr wrap="square" lIns="0" tIns="0" rIns="0" bIns="0" rtlCol="0" anchor="ctr"/>
          <a:lstStyle/>
          <a:p>
            <a:pPr marL="0" indent="0">
              <a:lnSpc>
                <a:spcPct val="102000"/>
              </a:lnSpc>
              <a:buNone/>
            </a:pPr>
            <a:r>
              <a:rPr lang="en-US" sz="1200" dirty="0">
                <a:solidFill>
                  <a:srgbClr val="1E293B"/>
                </a:solidFill>
                <a:latin typeface="Calibri" pitchFamily="34" charset="0"/>
                <a:ea typeface="Calibri" pitchFamily="34" charset="-122"/>
                <a:cs typeface="Calibri" pitchFamily="34" charset="-120"/>
              </a:rPr>
              <a:t>Thêm global graph chia sẻ thông tin giữa các phiên → học pattern cross-session.</a:t>
            </a:r>
            <a:endParaRPr lang="en-US" sz="1200" dirty="0"/>
          </a:p>
        </p:txBody>
      </p:sp>
      <p:sp>
        <p:nvSpPr>
          <p:cNvPr id="19" name="Shape 17"/>
          <p:cNvSpPr/>
          <p:nvPr/>
        </p:nvSpPr>
        <p:spPr>
          <a:xfrm>
            <a:off x="6217920" y="2377440"/>
            <a:ext cx="2670048" cy="2788920"/>
          </a:xfrm>
          <a:prstGeom prst="roundRect">
            <a:avLst>
              <a:gd name="adj" fmla="val 2740"/>
            </a:avLst>
          </a:prstGeom>
          <a:solidFill>
            <a:srgbClr val="FFFFFF"/>
          </a:solidFill>
          <a:ln w="12700">
            <a:solidFill>
              <a:srgbClr val="CBD5E1"/>
            </a:solidFill>
            <a:prstDash val="solid"/>
          </a:ln>
          <a:effectLst>
            <a:outerShdw blurRad="88900" dist="38100" dir="8100000" algn="bl" rotWithShape="0">
              <a:srgbClr val="000000">
                <a:alpha val="16000"/>
              </a:srgbClr>
            </a:outerShdw>
          </a:effectLst>
        </p:spPr>
      </p:sp>
      <p:sp>
        <p:nvSpPr>
          <p:cNvPr id="20" name="Shape 18"/>
          <p:cNvSpPr/>
          <p:nvPr/>
        </p:nvSpPr>
        <p:spPr>
          <a:xfrm>
            <a:off x="6446520" y="2633472"/>
            <a:ext cx="548640" cy="548640"/>
          </a:xfrm>
          <a:prstGeom prst="ellipse">
            <a:avLst/>
          </a:prstGeom>
          <a:solidFill>
            <a:srgbClr val="0D2B45"/>
          </a:solidFill>
          <a:ln/>
        </p:spPr>
      </p:sp>
      <p:sp>
        <p:nvSpPr>
          <p:cNvPr id="21" name="Text 19"/>
          <p:cNvSpPr/>
          <p:nvPr/>
        </p:nvSpPr>
        <p:spPr>
          <a:xfrm>
            <a:off x="6446520" y="2633472"/>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3</a:t>
            </a:r>
            <a:endParaRPr lang="en-US" sz="2200" dirty="0"/>
          </a:p>
        </p:txBody>
      </p:sp>
      <p:sp>
        <p:nvSpPr>
          <p:cNvPr id="22" name="Text 20"/>
          <p:cNvSpPr/>
          <p:nvPr/>
        </p:nvSpPr>
        <p:spPr>
          <a:xfrm>
            <a:off x="6446520" y="3291840"/>
            <a:ext cx="2212848" cy="384048"/>
          </a:xfrm>
          <a:prstGeom prst="rect">
            <a:avLst/>
          </a:prstGeom>
          <a:noFill/>
          <a:ln/>
        </p:spPr>
        <p:txBody>
          <a:bodyPr wrap="square" lIns="0" tIns="0" rIns="0" bIns="0" rtlCol="0" anchor="ctr"/>
          <a:lstStyle/>
          <a:p>
            <a:pPr marL="0" indent="0">
              <a:buNone/>
            </a:pPr>
            <a:r>
              <a:rPr lang="en-US" sz="1900" b="1" dirty="0">
                <a:solidFill>
                  <a:srgbClr val="0D2B45"/>
                </a:solidFill>
                <a:latin typeface="Georgia" pitchFamily="34" charset="0"/>
                <a:ea typeface="Georgia" pitchFamily="34" charset="-122"/>
                <a:cs typeface="Georgia" pitchFamily="34" charset="-120"/>
              </a:rPr>
              <a:t>LESSR</a:t>
            </a:r>
            <a:endParaRPr lang="en-US" sz="1900" dirty="0"/>
          </a:p>
        </p:txBody>
      </p:sp>
      <p:sp>
        <p:nvSpPr>
          <p:cNvPr id="23" name="Text 21"/>
          <p:cNvSpPr/>
          <p:nvPr/>
        </p:nvSpPr>
        <p:spPr>
          <a:xfrm>
            <a:off x="6446520" y="3675888"/>
            <a:ext cx="2212848" cy="274320"/>
          </a:xfrm>
          <a:prstGeom prst="rect">
            <a:avLst/>
          </a:prstGeom>
          <a:noFill/>
          <a:ln/>
        </p:spPr>
        <p:txBody>
          <a:bodyPr wrap="square" lIns="0" tIns="0" rIns="0" bIns="0" rtlCol="0" anchor="ctr"/>
          <a:lstStyle/>
          <a:p>
            <a:pPr marL="0" indent="0">
              <a:buNone/>
            </a:pPr>
            <a:r>
              <a:rPr lang="en-US" sz="1050" i="1" dirty="0">
                <a:solidFill>
                  <a:srgbClr val="0E7C7B"/>
                </a:solidFill>
                <a:latin typeface="Calibri" pitchFamily="34" charset="0"/>
                <a:ea typeface="Calibri" pitchFamily="34" charset="-122"/>
                <a:cs typeface="Calibri" pitchFamily="34" charset="-120"/>
              </a:rPr>
              <a:t>Chen &amp; Wong, KDD 2020</a:t>
            </a:r>
            <a:endParaRPr lang="en-US" sz="1050" dirty="0"/>
          </a:p>
        </p:txBody>
      </p:sp>
      <p:sp>
        <p:nvSpPr>
          <p:cNvPr id="24" name="Text 22"/>
          <p:cNvSpPr/>
          <p:nvPr/>
        </p:nvSpPr>
        <p:spPr>
          <a:xfrm>
            <a:off x="6446520" y="4005072"/>
            <a:ext cx="2212848" cy="1005840"/>
          </a:xfrm>
          <a:prstGeom prst="rect">
            <a:avLst/>
          </a:prstGeom>
          <a:noFill/>
          <a:ln/>
        </p:spPr>
        <p:txBody>
          <a:bodyPr wrap="square" lIns="0" tIns="0" rIns="0" bIns="0" rtlCol="0" anchor="ctr"/>
          <a:lstStyle/>
          <a:p>
            <a:pPr marL="0" indent="0">
              <a:lnSpc>
                <a:spcPct val="102000"/>
              </a:lnSpc>
              <a:buNone/>
            </a:pPr>
            <a:r>
              <a:rPr lang="en-US" sz="1200" dirty="0">
                <a:solidFill>
                  <a:srgbClr val="1E293B"/>
                </a:solidFill>
                <a:latin typeface="Calibri" pitchFamily="34" charset="0"/>
                <a:ea typeface="Calibri" pitchFamily="34" charset="-122"/>
                <a:cs typeface="Calibri" pitchFamily="34" charset="-120"/>
              </a:rPr>
              <a:t>Edge-order preserving + shortcut attention → khắc phục mất mát thông tin của SR-GNN.</a:t>
            </a:r>
            <a:endParaRPr lang="en-US" sz="1200" dirty="0"/>
          </a:p>
        </p:txBody>
      </p:sp>
      <p:sp>
        <p:nvSpPr>
          <p:cNvPr id="25" name="Shape 23"/>
          <p:cNvSpPr/>
          <p:nvPr/>
        </p:nvSpPr>
        <p:spPr>
          <a:xfrm>
            <a:off x="9052560" y="2377440"/>
            <a:ext cx="2670048" cy="2788920"/>
          </a:xfrm>
          <a:prstGeom prst="roundRect">
            <a:avLst>
              <a:gd name="adj" fmla="val 2740"/>
            </a:avLst>
          </a:prstGeom>
          <a:solidFill>
            <a:srgbClr val="FFFFFF"/>
          </a:solidFill>
          <a:ln w="12700">
            <a:solidFill>
              <a:srgbClr val="CBD5E1"/>
            </a:solidFill>
            <a:prstDash val="solid"/>
          </a:ln>
          <a:effectLst>
            <a:outerShdw blurRad="88900" dist="38100" dir="8100000" algn="bl" rotWithShape="0">
              <a:srgbClr val="000000">
                <a:alpha val="16000"/>
              </a:srgbClr>
            </a:outerShdw>
          </a:effectLst>
        </p:spPr>
      </p:sp>
      <p:sp>
        <p:nvSpPr>
          <p:cNvPr id="26" name="Shape 24"/>
          <p:cNvSpPr/>
          <p:nvPr/>
        </p:nvSpPr>
        <p:spPr>
          <a:xfrm>
            <a:off x="9281160" y="2633472"/>
            <a:ext cx="548640" cy="548640"/>
          </a:xfrm>
          <a:prstGeom prst="ellipse">
            <a:avLst/>
          </a:prstGeom>
          <a:solidFill>
            <a:srgbClr val="0D2B45"/>
          </a:solidFill>
          <a:ln/>
        </p:spPr>
      </p:sp>
      <p:sp>
        <p:nvSpPr>
          <p:cNvPr id="27" name="Text 25"/>
          <p:cNvSpPr/>
          <p:nvPr/>
        </p:nvSpPr>
        <p:spPr>
          <a:xfrm>
            <a:off x="9281160" y="2633472"/>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4</a:t>
            </a:r>
            <a:endParaRPr lang="en-US" sz="2200" dirty="0"/>
          </a:p>
        </p:txBody>
      </p:sp>
      <p:sp>
        <p:nvSpPr>
          <p:cNvPr id="28" name="Text 26"/>
          <p:cNvSpPr/>
          <p:nvPr/>
        </p:nvSpPr>
        <p:spPr>
          <a:xfrm>
            <a:off x="9281160" y="3291840"/>
            <a:ext cx="2212848" cy="384048"/>
          </a:xfrm>
          <a:prstGeom prst="rect">
            <a:avLst/>
          </a:prstGeom>
          <a:noFill/>
          <a:ln/>
        </p:spPr>
        <p:txBody>
          <a:bodyPr wrap="square" lIns="0" tIns="0" rIns="0" bIns="0" rtlCol="0" anchor="ctr"/>
          <a:lstStyle/>
          <a:p>
            <a:pPr marL="0" indent="0">
              <a:buNone/>
            </a:pPr>
            <a:r>
              <a:rPr lang="en-US" sz="1900" b="1" dirty="0">
                <a:solidFill>
                  <a:srgbClr val="0D2B45"/>
                </a:solidFill>
                <a:latin typeface="Georgia" pitchFamily="34" charset="0"/>
                <a:ea typeface="Georgia" pitchFamily="34" charset="-122"/>
                <a:cs typeface="Georgia" pitchFamily="34" charset="-120"/>
              </a:rPr>
              <a:t>CORE</a:t>
            </a:r>
            <a:endParaRPr lang="en-US" sz="1900" dirty="0"/>
          </a:p>
        </p:txBody>
      </p:sp>
      <p:sp>
        <p:nvSpPr>
          <p:cNvPr id="29" name="Text 27"/>
          <p:cNvSpPr/>
          <p:nvPr/>
        </p:nvSpPr>
        <p:spPr>
          <a:xfrm>
            <a:off x="9281160" y="3675888"/>
            <a:ext cx="2212848" cy="274320"/>
          </a:xfrm>
          <a:prstGeom prst="rect">
            <a:avLst/>
          </a:prstGeom>
          <a:noFill/>
          <a:ln/>
        </p:spPr>
        <p:txBody>
          <a:bodyPr wrap="square" lIns="0" tIns="0" rIns="0" bIns="0" rtlCol="0" anchor="ctr"/>
          <a:lstStyle/>
          <a:p>
            <a:pPr marL="0" indent="0">
              <a:buNone/>
            </a:pPr>
            <a:r>
              <a:rPr lang="en-US" sz="1050" i="1" dirty="0">
                <a:solidFill>
                  <a:srgbClr val="0E7C7B"/>
                </a:solidFill>
                <a:latin typeface="Calibri" pitchFamily="34" charset="0"/>
                <a:ea typeface="Calibri" pitchFamily="34" charset="-122"/>
                <a:cs typeface="Calibri" pitchFamily="34" charset="-120"/>
              </a:rPr>
              <a:t>Hou et al., SIGIR 2022</a:t>
            </a:r>
            <a:endParaRPr lang="en-US" sz="1050" dirty="0"/>
          </a:p>
        </p:txBody>
      </p:sp>
      <p:sp>
        <p:nvSpPr>
          <p:cNvPr id="30" name="Text 28"/>
          <p:cNvSpPr/>
          <p:nvPr/>
        </p:nvSpPr>
        <p:spPr>
          <a:xfrm>
            <a:off x="9281160" y="4005072"/>
            <a:ext cx="2212848" cy="1005840"/>
          </a:xfrm>
          <a:prstGeom prst="rect">
            <a:avLst/>
          </a:prstGeom>
          <a:noFill/>
          <a:ln/>
        </p:spPr>
        <p:txBody>
          <a:bodyPr wrap="square" lIns="0" tIns="0" rIns="0" bIns="0" rtlCol="0" anchor="ctr"/>
          <a:lstStyle/>
          <a:p>
            <a:pPr marL="0" indent="0">
              <a:lnSpc>
                <a:spcPct val="102000"/>
              </a:lnSpc>
              <a:buNone/>
            </a:pPr>
            <a:r>
              <a:rPr lang="en-US" sz="1200" dirty="0">
                <a:solidFill>
                  <a:srgbClr val="1E293B"/>
                </a:solidFill>
                <a:latin typeface="Calibri" pitchFamily="34" charset="0"/>
                <a:ea typeface="Calibri" pitchFamily="34" charset="-122"/>
                <a:cs typeface="Calibri" pitchFamily="34" charset="-120"/>
              </a:rPr>
              <a:t>Consistent representation space: session và item embedding cùng không gian → ranking tốt hơn.</a:t>
            </a:r>
            <a:endParaRPr lang="en-US" sz="1200" dirty="0"/>
          </a:p>
        </p:txBody>
      </p:sp>
      <p:sp>
        <p:nvSpPr>
          <p:cNvPr id="31" name="Text 29"/>
          <p:cNvSpPr/>
          <p:nvPr/>
        </p:nvSpPr>
        <p:spPr>
          <a:xfrm>
            <a:off x="548640" y="5440680"/>
            <a:ext cx="11064240" cy="365760"/>
          </a:xfrm>
          <a:prstGeom prst="rect">
            <a:avLst/>
          </a:prstGeom>
          <a:noFill/>
          <a:ln/>
        </p:spPr>
        <p:txBody>
          <a:bodyPr wrap="square" lIns="0" tIns="0" rIns="0" bIns="0" rtlCol="0" anchor="ctr"/>
          <a:lstStyle/>
          <a:p>
            <a:pPr marL="0" indent="0">
              <a:buNone/>
            </a:pPr>
            <a:r>
              <a:rPr lang="en-US" sz="1400" b="1" dirty="0">
                <a:solidFill>
                  <a:srgbClr val="F4A261"/>
                </a:solidFill>
                <a:latin typeface="Calibri" pitchFamily="34" charset="0"/>
                <a:ea typeface="Calibri" pitchFamily="34" charset="-122"/>
                <a:cs typeface="Calibri" pitchFamily="34" charset="-120"/>
              </a:rPr>
              <a:t>Hạn chế chung:  </a:t>
            </a:r>
            <a:r>
              <a:rPr lang="en-US" sz="1400" dirty="0">
                <a:solidFill>
                  <a:srgbClr val="1E293B"/>
                </a:solidFill>
                <a:latin typeface="Calibri" pitchFamily="34" charset="0"/>
                <a:ea typeface="Calibri" pitchFamily="34" charset="-122"/>
                <a:cs typeface="Calibri" pitchFamily="34" charset="-120"/>
              </a:rPr>
              <a:t>chỉ học từ tín hiệu next-item (supervised) — chưa tận dụng self-supervised signal.</a:t>
            </a:r>
            <a:endParaRPr lang="en-US" sz="1400" dirty="0"/>
          </a:p>
        </p:txBody>
      </p:sp>
      <p:sp>
        <p:nvSpPr>
          <p:cNvPr id="32" name="Text 30"/>
          <p:cNvSpPr/>
          <p:nvPr/>
        </p:nvSpPr>
        <p:spPr>
          <a:xfrm>
            <a:off x="548640" y="6473952"/>
            <a:ext cx="54864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CatSA · Background &amp; Motivation</a:t>
            </a:r>
            <a:endParaRPr lang="en-US" sz="900" dirty="0"/>
          </a:p>
        </p:txBody>
      </p:sp>
      <p:sp>
        <p:nvSpPr>
          <p:cNvPr id="33" name="Text 31"/>
          <p:cNvSpPr/>
          <p:nvPr/>
        </p:nvSpPr>
        <p:spPr>
          <a:xfrm>
            <a:off x="11155680" y="6473952"/>
            <a:ext cx="4572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4</a:t>
            </a:r>
            <a:endParaRPr lang="en-US" sz="9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lIns="0" tIns="0" rIns="0" bIns="0" rtlCol="0" anchor="ctr"/>
          <a:lstStyle/>
          <a:p>
            <a:pPr marL="0" indent="0">
              <a:buNone/>
            </a:pPr>
            <a:r>
              <a:rPr lang="en-US" sz="1200" b="1" kern="0" spc="300" dirty="0">
                <a:solidFill>
                  <a:srgbClr val="0E7C7B"/>
                </a:solidFill>
                <a:latin typeface="Arial" pitchFamily="34" charset="0"/>
                <a:ea typeface="Arial" pitchFamily="34" charset="-122"/>
                <a:cs typeface="Arial" pitchFamily="34" charset="-120"/>
              </a:rPr>
              <a:t>HƯỚNG PHÁT TRIỂN 2 · ĐỘNG LỰC</a:t>
            </a:r>
            <a:endParaRPr lang="en-US" sz="12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0D2B45"/>
                </a:solidFill>
                <a:latin typeface="Georgia" pitchFamily="34" charset="0"/>
                <a:ea typeface="Georgia" pitchFamily="34" charset="-122"/>
                <a:cs typeface="Georgia" pitchFamily="34" charset="-120"/>
              </a:rPr>
              <a:t>Vấn đề: phiên quá ngắn</a:t>
            </a:r>
            <a:endParaRPr lang="en-US" sz="3000" dirty="0"/>
          </a:p>
        </p:txBody>
      </p:sp>
      <p:sp>
        <p:nvSpPr>
          <p:cNvPr id="4" name="Shape 2"/>
          <p:cNvSpPr/>
          <p:nvPr/>
        </p:nvSpPr>
        <p:spPr>
          <a:xfrm>
            <a:off x="548640" y="1783080"/>
            <a:ext cx="3749040" cy="3108960"/>
          </a:xfrm>
          <a:prstGeom prst="roundRect">
            <a:avLst>
              <a:gd name="adj" fmla="val 2941"/>
            </a:avLst>
          </a:prstGeom>
          <a:solidFill>
            <a:srgbClr val="0D2B45"/>
          </a:solidFill>
          <a:ln/>
          <a:effectLst>
            <a:outerShdw blurRad="88900" dist="38100" dir="8100000" algn="bl" rotWithShape="0">
              <a:srgbClr val="000000">
                <a:alpha val="16000"/>
              </a:srgbClr>
            </a:outerShdw>
          </a:effectLst>
        </p:spPr>
      </p:sp>
      <p:sp>
        <p:nvSpPr>
          <p:cNvPr id="5" name="Text 3"/>
          <p:cNvSpPr/>
          <p:nvPr/>
        </p:nvSpPr>
        <p:spPr>
          <a:xfrm>
            <a:off x="548640" y="2240280"/>
            <a:ext cx="3749040" cy="1005840"/>
          </a:xfrm>
          <a:prstGeom prst="rect">
            <a:avLst/>
          </a:prstGeom>
          <a:noFill/>
          <a:ln/>
        </p:spPr>
        <p:txBody>
          <a:bodyPr wrap="square" lIns="0" tIns="0" rIns="0" bIns="0" rtlCol="0" anchor="ctr"/>
          <a:lstStyle/>
          <a:p>
            <a:pPr marL="0" indent="0" algn="ctr">
              <a:buNone/>
            </a:pPr>
            <a:r>
              <a:rPr lang="en-US" sz="5600" b="1" dirty="0">
                <a:solidFill>
                  <a:srgbClr val="F4A261"/>
                </a:solidFill>
                <a:latin typeface="Georgia" pitchFamily="34" charset="0"/>
                <a:ea typeface="Georgia" pitchFamily="34" charset="-122"/>
                <a:cs typeface="Georgia" pitchFamily="34" charset="-120"/>
              </a:rPr>
              <a:t>40–60%</a:t>
            </a:r>
            <a:endParaRPr lang="en-US" sz="5600" dirty="0"/>
          </a:p>
        </p:txBody>
      </p:sp>
      <p:sp>
        <p:nvSpPr>
          <p:cNvPr id="6" name="Text 4"/>
          <p:cNvSpPr/>
          <p:nvPr/>
        </p:nvSpPr>
        <p:spPr>
          <a:xfrm>
            <a:off x="548640" y="3246120"/>
            <a:ext cx="3749040" cy="822960"/>
          </a:xfrm>
          <a:prstGeom prst="rect">
            <a:avLst/>
          </a:prstGeom>
          <a:noFill/>
          <a:ln/>
        </p:spPr>
        <p:txBody>
          <a:bodyPr wrap="square" lIns="0" tIns="0" rIns="0" bIns="0" rtlCol="0" anchor="ctr"/>
          <a:lstStyle/>
          <a:p>
            <a:pPr marL="0" indent="0" algn="ctr">
              <a:lnSpc>
                <a:spcPct val="105000"/>
              </a:lnSpc>
              <a:buNone/>
            </a:pPr>
            <a:r>
              <a:rPr lang="en-US" sz="1700" dirty="0">
                <a:solidFill>
                  <a:srgbClr val="FFFFFF"/>
                </a:solidFill>
                <a:latin typeface="Calibri" pitchFamily="34" charset="0"/>
                <a:ea typeface="Calibri" pitchFamily="34" charset="-122"/>
                <a:cs typeface="Calibri" pitchFamily="34" charset="-120"/>
              </a:rPr>
              <a:t>phiên trên benchmark</a:t>
            </a:r>
            <a:endParaRPr lang="en-US" sz="1700" dirty="0"/>
          </a:p>
          <a:p>
            <a:pPr marL="0" indent="0" algn="ctr">
              <a:lnSpc>
                <a:spcPct val="105000"/>
              </a:lnSpc>
              <a:buNone/>
            </a:pPr>
            <a:r>
              <a:rPr lang="en-US" sz="1700" dirty="0">
                <a:solidFill>
                  <a:srgbClr val="FFFFFF"/>
                </a:solidFill>
                <a:latin typeface="Calibri" pitchFamily="34" charset="0"/>
                <a:ea typeface="Calibri" pitchFamily="34" charset="-122"/>
                <a:cs typeface="Calibri" pitchFamily="34" charset="-120"/>
              </a:rPr>
              <a:t>có ≤ 5 items</a:t>
            </a:r>
            <a:endParaRPr lang="en-US" sz="1700" dirty="0"/>
          </a:p>
        </p:txBody>
      </p:sp>
      <p:sp>
        <p:nvSpPr>
          <p:cNvPr id="7" name="Text 5"/>
          <p:cNvSpPr/>
          <p:nvPr/>
        </p:nvSpPr>
        <p:spPr>
          <a:xfrm>
            <a:off x="548640" y="4251960"/>
            <a:ext cx="3749040" cy="365760"/>
          </a:xfrm>
          <a:prstGeom prst="rect">
            <a:avLst/>
          </a:prstGeom>
          <a:noFill/>
          <a:ln/>
        </p:spPr>
        <p:txBody>
          <a:bodyPr wrap="square" lIns="0" tIns="0" rIns="0" bIns="0" rtlCol="0" anchor="ctr"/>
          <a:lstStyle/>
          <a:p>
            <a:pPr marL="0" indent="0" algn="ctr">
              <a:buNone/>
            </a:pPr>
            <a:r>
              <a:rPr lang="en-US" sz="1200" i="1" dirty="0">
                <a:solidFill>
                  <a:srgbClr val="94A3B8"/>
                </a:solidFill>
                <a:latin typeface="Calibri" pitchFamily="34" charset="0"/>
                <a:ea typeface="Calibri" pitchFamily="34" charset="-122"/>
                <a:cs typeface="Calibri" pitchFamily="34" charset="-120"/>
              </a:rPr>
              <a:t>Yoochoose · Diginetica</a:t>
            </a:r>
            <a:endParaRPr lang="en-US" sz="1200" dirty="0"/>
          </a:p>
        </p:txBody>
      </p:sp>
      <p:sp>
        <p:nvSpPr>
          <p:cNvPr id="8" name="Text 6"/>
          <p:cNvSpPr/>
          <p:nvPr/>
        </p:nvSpPr>
        <p:spPr>
          <a:xfrm>
            <a:off x="4617720" y="1828800"/>
            <a:ext cx="6949440" cy="1188720"/>
          </a:xfrm>
          <a:prstGeom prst="rect">
            <a:avLst/>
          </a:prstGeom>
          <a:noFill/>
          <a:ln/>
        </p:spPr>
        <p:txBody>
          <a:bodyPr wrap="square" lIns="0" tIns="0" rIns="0" bIns="0" rtlCol="0" anchor="ctr"/>
          <a:lstStyle/>
          <a:p>
            <a:pPr marL="0" indent="0">
              <a:lnSpc>
                <a:spcPct val="115000"/>
              </a:lnSpc>
              <a:buNone/>
            </a:pPr>
            <a:r>
              <a:rPr lang="en-US" sz="1600" dirty="0">
                <a:solidFill>
                  <a:srgbClr val="1E293B"/>
                </a:solidFill>
                <a:latin typeface="Calibri" pitchFamily="34" charset="0"/>
                <a:ea typeface="Calibri" pitchFamily="34" charset="-122"/>
                <a:cs typeface="Calibri" pitchFamily="34" charset="-120"/>
              </a:rPr>
              <a:t>Phiên ngắn cung cấp ít tín hiệu → biểu diễn kém, đặc biệt cho item long-tail. Giải pháp từ 2021–2022: bổ sung tín hiệu bằng self-supervised contrastive learning (CL).</a:t>
            </a:r>
            <a:endParaRPr lang="en-US" sz="1600" dirty="0"/>
          </a:p>
        </p:txBody>
      </p:sp>
      <p:sp>
        <p:nvSpPr>
          <p:cNvPr id="9" name="Text 7"/>
          <p:cNvSpPr/>
          <p:nvPr/>
        </p:nvSpPr>
        <p:spPr>
          <a:xfrm>
            <a:off x="4617720" y="3063240"/>
            <a:ext cx="6949440" cy="365760"/>
          </a:xfrm>
          <a:prstGeom prst="rect">
            <a:avLst/>
          </a:prstGeom>
          <a:noFill/>
          <a:ln/>
        </p:spPr>
        <p:txBody>
          <a:bodyPr wrap="square" lIns="0" tIns="0" rIns="0" bIns="0" rtlCol="0" anchor="ctr"/>
          <a:lstStyle/>
          <a:p>
            <a:pPr marL="0" indent="0">
              <a:buNone/>
            </a:pPr>
            <a:r>
              <a:rPr lang="en-US" sz="1800" b="1" dirty="0">
                <a:solidFill>
                  <a:srgbClr val="0D2B45"/>
                </a:solidFill>
                <a:latin typeface="Georgia" pitchFamily="34" charset="0"/>
                <a:ea typeface="Georgia" pitchFamily="34" charset="-122"/>
                <a:cs typeface="Georgia" pitchFamily="34" charset="-120"/>
              </a:rPr>
              <a:t>Ý tưởng Contrastive Learning</a:t>
            </a:r>
            <a:endParaRPr lang="en-US" sz="1800" dirty="0"/>
          </a:p>
        </p:txBody>
      </p:sp>
      <p:sp>
        <p:nvSpPr>
          <p:cNvPr id="10" name="Shape 8"/>
          <p:cNvSpPr/>
          <p:nvPr/>
        </p:nvSpPr>
        <p:spPr>
          <a:xfrm>
            <a:off x="4617720" y="3520440"/>
            <a:ext cx="6949440" cy="1417320"/>
          </a:xfrm>
          <a:prstGeom prst="roundRect">
            <a:avLst>
              <a:gd name="adj" fmla="val 5161"/>
            </a:avLst>
          </a:prstGeom>
          <a:solidFill>
            <a:srgbClr val="F1F5F9"/>
          </a:solidFill>
          <a:ln w="12700">
            <a:solidFill>
              <a:srgbClr val="CBD5E1"/>
            </a:solidFill>
            <a:prstDash val="solid"/>
          </a:ln>
        </p:spPr>
      </p:sp>
      <p:sp>
        <p:nvSpPr>
          <p:cNvPr id="11" name="Text 9"/>
          <p:cNvSpPr/>
          <p:nvPr/>
        </p:nvSpPr>
        <p:spPr>
          <a:xfrm>
            <a:off x="4846320" y="3657600"/>
            <a:ext cx="6492240" cy="1143000"/>
          </a:xfrm>
          <a:prstGeom prst="rect">
            <a:avLst/>
          </a:prstGeom>
          <a:noFill/>
          <a:ln/>
        </p:spPr>
        <p:txBody>
          <a:bodyPr wrap="square" lIns="0" tIns="0" rIns="0" bIns="0" rtlCol="0" anchor="ctr"/>
          <a:lstStyle/>
          <a:p>
            <a:pPr marL="0" indent="0">
              <a:lnSpc>
                <a:spcPct val="125000"/>
              </a:lnSpc>
              <a:buNone/>
            </a:pPr>
            <a:r>
              <a:rPr lang="en-US" sz="1400" b="1" dirty="0">
                <a:solidFill>
                  <a:srgbClr val="1E293B"/>
                </a:solidFill>
                <a:latin typeface="Calibri" pitchFamily="34" charset="0"/>
                <a:ea typeface="Calibri" pitchFamily="34" charset="-122"/>
                <a:cs typeface="Calibri" pitchFamily="34" charset="-120"/>
              </a:rPr>
              <a:t>Tạo phiên biến thể (augmented session) từ phiên gốc, rồi:</a:t>
            </a:r>
            <a:endParaRPr lang="en-US" sz="1400" dirty="0"/>
          </a:p>
          <a:p>
            <a:pPr marL="0" indent="0">
              <a:lnSpc>
                <a:spcPct val="125000"/>
              </a:lnSpc>
              <a:buNone/>
            </a:pPr>
            <a:r>
              <a:rPr lang="en-US" sz="1400" b="1" dirty="0">
                <a:solidFill>
                  <a:srgbClr val="10B981"/>
                </a:solidFill>
                <a:latin typeface="Calibri" pitchFamily="34" charset="0"/>
                <a:ea typeface="Calibri" pitchFamily="34" charset="-122"/>
                <a:cs typeface="Calibri" pitchFamily="34" charset="-120"/>
              </a:rPr>
              <a:t>Kéo gần  </a:t>
            </a:r>
            <a:r>
              <a:rPr lang="en-US" sz="1400" dirty="0">
                <a:solidFill>
                  <a:srgbClr val="1E293B"/>
                </a:solidFill>
                <a:latin typeface="Calibri" pitchFamily="34" charset="0"/>
                <a:ea typeface="Calibri" pitchFamily="34" charset="-122"/>
                <a:cs typeface="Calibri" pitchFamily="34" charset="-120"/>
              </a:rPr>
              <a:t>phiên gốc ↔ phiên biến thể  (cặp dương)</a:t>
            </a:r>
            <a:endParaRPr lang="en-US" sz="1400" dirty="0"/>
          </a:p>
          <a:p>
            <a:pPr marL="0" indent="0">
              <a:lnSpc>
                <a:spcPct val="125000"/>
              </a:lnSpc>
              <a:buNone/>
            </a:pPr>
            <a:r>
              <a:rPr lang="en-US" sz="1400" b="1" dirty="0">
                <a:solidFill>
                  <a:srgbClr val="EF4444"/>
                </a:solidFill>
                <a:latin typeface="Calibri" pitchFamily="34" charset="0"/>
                <a:ea typeface="Calibri" pitchFamily="34" charset="-122"/>
                <a:cs typeface="Calibri" pitchFamily="34" charset="-120"/>
              </a:rPr>
              <a:t>Đẩy xa  </a:t>
            </a:r>
            <a:r>
              <a:rPr lang="en-US" sz="1400" dirty="0">
                <a:solidFill>
                  <a:srgbClr val="1E293B"/>
                </a:solidFill>
                <a:latin typeface="Calibri" pitchFamily="34" charset="0"/>
                <a:ea typeface="Calibri" pitchFamily="34" charset="-122"/>
                <a:cs typeface="Calibri" pitchFamily="34" charset="-120"/>
              </a:rPr>
              <a:t>phiên gốc ↔ các phiên khác trong batch  (cặp âm)</a:t>
            </a:r>
            <a:endParaRPr lang="en-US" sz="1400" dirty="0"/>
          </a:p>
        </p:txBody>
      </p:sp>
      <p:sp>
        <p:nvSpPr>
          <p:cNvPr id="12" name="Text 10"/>
          <p:cNvSpPr/>
          <p:nvPr/>
        </p:nvSpPr>
        <p:spPr>
          <a:xfrm>
            <a:off x="4617720" y="5074920"/>
            <a:ext cx="6949440" cy="274320"/>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InfoNCE loss [Oord et al., 2018] · CL trong RecSys [Chen et al., 2020 — SimCLR]</a:t>
            </a:r>
            <a:endParaRPr lang="en-US" sz="1000" dirty="0"/>
          </a:p>
        </p:txBody>
      </p:sp>
      <p:sp>
        <p:nvSpPr>
          <p:cNvPr id="13" name="Text 11"/>
          <p:cNvSpPr/>
          <p:nvPr/>
        </p:nvSpPr>
        <p:spPr>
          <a:xfrm>
            <a:off x="548640" y="6473952"/>
            <a:ext cx="54864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CatSA · Background &amp; Motivation</a:t>
            </a:r>
            <a:endParaRPr lang="en-US" sz="900" dirty="0"/>
          </a:p>
        </p:txBody>
      </p:sp>
      <p:sp>
        <p:nvSpPr>
          <p:cNvPr id="14" name="Text 12"/>
          <p:cNvSpPr/>
          <p:nvPr/>
        </p:nvSpPr>
        <p:spPr>
          <a:xfrm>
            <a:off x="11155680" y="6473952"/>
            <a:ext cx="4572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5</a:t>
            </a:r>
            <a:endParaRPr lang="en-US" sz="9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lIns="0" tIns="0" rIns="0" bIns="0" rtlCol="0" anchor="ctr"/>
          <a:lstStyle/>
          <a:p>
            <a:pPr marL="0" indent="0">
              <a:buNone/>
            </a:pPr>
            <a:r>
              <a:rPr lang="en-US" sz="1200" b="1" kern="0" spc="300" dirty="0">
                <a:solidFill>
                  <a:srgbClr val="0E7C7B"/>
                </a:solidFill>
                <a:latin typeface="Arial" pitchFamily="34" charset="0"/>
                <a:ea typeface="Arial" pitchFamily="34" charset="-122"/>
                <a:cs typeface="Arial" pitchFamily="34" charset="-120"/>
              </a:rPr>
              <a:t>HƯỚNG PHÁT TRIỂN 2 · TIER 2 BASELINES</a:t>
            </a:r>
            <a:endParaRPr lang="en-US" sz="12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0D2B45"/>
                </a:solidFill>
                <a:latin typeface="Georgia" pitchFamily="34" charset="0"/>
                <a:ea typeface="Georgia" pitchFamily="34" charset="-122"/>
                <a:cs typeface="Georgia" pitchFamily="34" charset="-120"/>
              </a:rPr>
              <a:t>Các phương pháp Contrastive Learning</a:t>
            </a:r>
            <a:endParaRPr lang="en-US" sz="3000" dirty="0"/>
          </a:p>
        </p:txBody>
      </p:sp>
      <p:sp>
        <p:nvSpPr>
          <p:cNvPr id="4" name="Shape 2"/>
          <p:cNvSpPr/>
          <p:nvPr/>
        </p:nvSpPr>
        <p:spPr>
          <a:xfrm>
            <a:off x="10744200" y="457200"/>
            <a:ext cx="868680" cy="384048"/>
          </a:xfrm>
          <a:prstGeom prst="roundRect">
            <a:avLst>
              <a:gd name="adj" fmla="val 19048"/>
            </a:avLst>
          </a:prstGeom>
          <a:solidFill>
            <a:srgbClr val="0E7C7B"/>
          </a:solidFill>
          <a:ln/>
        </p:spPr>
      </p:sp>
      <p:sp>
        <p:nvSpPr>
          <p:cNvPr id="5" name="Text 3"/>
          <p:cNvSpPr/>
          <p:nvPr/>
        </p:nvSpPr>
        <p:spPr>
          <a:xfrm>
            <a:off x="10744200" y="457200"/>
            <a:ext cx="86868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TIER 2</a:t>
            </a:r>
            <a:endParaRPr lang="en-US" sz="1300" dirty="0"/>
          </a:p>
        </p:txBody>
      </p:sp>
      <p:sp>
        <p:nvSpPr>
          <p:cNvPr id="6" name="Shape 4"/>
          <p:cNvSpPr/>
          <p:nvPr/>
        </p:nvSpPr>
        <p:spPr>
          <a:xfrm>
            <a:off x="548640" y="2240280"/>
            <a:ext cx="2670048" cy="2788920"/>
          </a:xfrm>
          <a:prstGeom prst="roundRect">
            <a:avLst>
              <a:gd name="adj" fmla="val 2740"/>
            </a:avLst>
          </a:prstGeom>
          <a:solidFill>
            <a:srgbClr val="FFF7EE"/>
          </a:solidFill>
          <a:ln w="25400">
            <a:solidFill>
              <a:srgbClr val="F4A261"/>
            </a:solidFill>
            <a:prstDash val="solid"/>
          </a:ln>
          <a:effectLst>
            <a:outerShdw blurRad="88900" dist="38100" dir="8100000" algn="bl" rotWithShape="0">
              <a:srgbClr val="000000">
                <a:alpha val="16000"/>
              </a:srgbClr>
            </a:outerShdw>
          </a:effectLst>
        </p:spPr>
      </p:sp>
      <p:sp>
        <p:nvSpPr>
          <p:cNvPr id="7" name="Shape 5"/>
          <p:cNvSpPr/>
          <p:nvPr/>
        </p:nvSpPr>
        <p:spPr>
          <a:xfrm>
            <a:off x="777240" y="2478024"/>
            <a:ext cx="566928" cy="566928"/>
          </a:xfrm>
          <a:prstGeom prst="ellipse">
            <a:avLst/>
          </a:prstGeom>
          <a:solidFill>
            <a:srgbClr val="0E7C7B"/>
          </a:solidFill>
          <a:ln/>
        </p:spPr>
      </p:sp>
      <p:pic>
        <p:nvPicPr>
          <p:cNvPr id="8" name="Image 0" descr="preencoded.png"/>
          <p:cNvPicPr>
            <a:picLocks noChangeAspect="1"/>
          </p:cNvPicPr>
          <p:nvPr/>
        </p:nvPicPr>
        <p:blipFill>
          <a:blip r:embed="rId3"/>
          <a:stretch>
            <a:fillRect/>
          </a:stretch>
        </p:blipFill>
        <p:spPr>
          <a:xfrm>
            <a:off x="886968" y="2587752"/>
            <a:ext cx="347472" cy="347472"/>
          </a:xfrm>
          <a:prstGeom prst="rect">
            <a:avLst/>
          </a:prstGeom>
        </p:spPr>
      </p:pic>
      <p:sp>
        <p:nvSpPr>
          <p:cNvPr id="9" name="Text 6"/>
          <p:cNvSpPr/>
          <p:nvPr/>
        </p:nvSpPr>
        <p:spPr>
          <a:xfrm>
            <a:off x="1463040" y="2514600"/>
            <a:ext cx="1664208" cy="502920"/>
          </a:xfrm>
          <a:prstGeom prst="rect">
            <a:avLst/>
          </a:prstGeom>
          <a:noFill/>
          <a:ln/>
        </p:spPr>
        <p:txBody>
          <a:bodyPr wrap="square" lIns="0" tIns="0" rIns="0" bIns="0" rtlCol="0" anchor="ctr"/>
          <a:lstStyle/>
          <a:p>
            <a:pPr marL="0" indent="0">
              <a:buNone/>
            </a:pPr>
            <a:r>
              <a:rPr lang="en-US" sz="1800" b="1" dirty="0">
                <a:solidFill>
                  <a:srgbClr val="0D2B45"/>
                </a:solidFill>
                <a:latin typeface="Georgia" pitchFamily="34" charset="0"/>
                <a:ea typeface="Georgia" pitchFamily="34" charset="-122"/>
                <a:cs typeface="Georgia" pitchFamily="34" charset="-120"/>
              </a:rPr>
              <a:t>CL4SRec</a:t>
            </a:r>
            <a:endParaRPr lang="en-US" sz="1800" dirty="0"/>
          </a:p>
        </p:txBody>
      </p:sp>
      <p:sp>
        <p:nvSpPr>
          <p:cNvPr id="10" name="Text 7"/>
          <p:cNvSpPr/>
          <p:nvPr/>
        </p:nvSpPr>
        <p:spPr>
          <a:xfrm>
            <a:off x="777240" y="3200400"/>
            <a:ext cx="2212848" cy="274320"/>
          </a:xfrm>
          <a:prstGeom prst="rect">
            <a:avLst/>
          </a:prstGeom>
          <a:noFill/>
          <a:ln/>
        </p:spPr>
        <p:txBody>
          <a:bodyPr wrap="square" lIns="0" tIns="0" rIns="0" bIns="0" rtlCol="0" anchor="ctr"/>
          <a:lstStyle/>
          <a:p>
            <a:pPr marL="0" indent="0">
              <a:buNone/>
            </a:pPr>
            <a:r>
              <a:rPr lang="en-US" sz="1050" i="1" dirty="0">
                <a:solidFill>
                  <a:srgbClr val="0E7C7B"/>
                </a:solidFill>
                <a:latin typeface="Calibri" pitchFamily="34" charset="0"/>
                <a:ea typeface="Calibri" pitchFamily="34" charset="-122"/>
                <a:cs typeface="Calibri" pitchFamily="34" charset="-120"/>
              </a:rPr>
              <a:t>Xie et al., ICDE 2022</a:t>
            </a:r>
            <a:endParaRPr lang="en-US" sz="1050" dirty="0"/>
          </a:p>
        </p:txBody>
      </p:sp>
      <p:sp>
        <p:nvSpPr>
          <p:cNvPr id="11" name="Text 8"/>
          <p:cNvSpPr/>
          <p:nvPr/>
        </p:nvSpPr>
        <p:spPr>
          <a:xfrm>
            <a:off x="777240" y="3538728"/>
            <a:ext cx="2212848" cy="1280160"/>
          </a:xfrm>
          <a:prstGeom prst="rect">
            <a:avLst/>
          </a:prstGeom>
          <a:noFill/>
          <a:ln/>
        </p:spPr>
        <p:txBody>
          <a:bodyPr wrap="square" lIns="0" tIns="0" rIns="0" bIns="0" rtlCol="0" anchor="ctr"/>
          <a:lstStyle/>
          <a:p>
            <a:pPr marL="0" indent="0">
              <a:lnSpc>
                <a:spcPct val="105000"/>
              </a:lnSpc>
              <a:buNone/>
            </a:pPr>
            <a:r>
              <a:rPr lang="en-US" sz="1200" dirty="0">
                <a:solidFill>
                  <a:srgbClr val="1E293B"/>
                </a:solidFill>
                <a:latin typeface="Calibri" pitchFamily="34" charset="0"/>
                <a:ea typeface="Calibri" pitchFamily="34" charset="-122"/>
                <a:cs typeface="Calibri" pitchFamily="34" charset="-120"/>
              </a:rPr>
              <a:t>Augmentation NGẪU NHIÊN: crop / mask / reorder. Baseline trực tiếp nhất của CatSA.</a:t>
            </a:r>
            <a:endParaRPr lang="en-US" sz="1200" dirty="0"/>
          </a:p>
        </p:txBody>
      </p:sp>
      <p:sp>
        <p:nvSpPr>
          <p:cNvPr id="12" name="Shape 9"/>
          <p:cNvSpPr/>
          <p:nvPr/>
        </p:nvSpPr>
        <p:spPr>
          <a:xfrm>
            <a:off x="3383280" y="2240280"/>
            <a:ext cx="2670048" cy="2788920"/>
          </a:xfrm>
          <a:prstGeom prst="roundRect">
            <a:avLst>
              <a:gd name="adj" fmla="val 2740"/>
            </a:avLst>
          </a:prstGeom>
          <a:solidFill>
            <a:srgbClr val="FFFFFF"/>
          </a:solidFill>
          <a:ln w="12700">
            <a:solidFill>
              <a:srgbClr val="CBD5E1"/>
            </a:solidFill>
            <a:prstDash val="solid"/>
          </a:ln>
          <a:effectLst>
            <a:outerShdw blurRad="88900" dist="38100" dir="8100000" algn="bl" rotWithShape="0">
              <a:srgbClr val="000000">
                <a:alpha val="16000"/>
              </a:srgbClr>
            </a:outerShdw>
          </a:effectLst>
        </p:spPr>
      </p:sp>
      <p:sp>
        <p:nvSpPr>
          <p:cNvPr id="13" name="Shape 10"/>
          <p:cNvSpPr/>
          <p:nvPr/>
        </p:nvSpPr>
        <p:spPr>
          <a:xfrm>
            <a:off x="3611880" y="2478024"/>
            <a:ext cx="566928" cy="566928"/>
          </a:xfrm>
          <a:prstGeom prst="ellipse">
            <a:avLst/>
          </a:prstGeom>
          <a:solidFill>
            <a:srgbClr val="0E7C7B"/>
          </a:solidFill>
          <a:ln/>
        </p:spPr>
      </p:sp>
      <p:pic>
        <p:nvPicPr>
          <p:cNvPr id="14" name="Image 1" descr="preencoded.png"/>
          <p:cNvPicPr>
            <a:picLocks noChangeAspect="1"/>
          </p:cNvPicPr>
          <p:nvPr/>
        </p:nvPicPr>
        <p:blipFill>
          <a:blip r:embed="rId4"/>
          <a:stretch>
            <a:fillRect/>
          </a:stretch>
        </p:blipFill>
        <p:spPr>
          <a:xfrm>
            <a:off x="3721608" y="2587752"/>
            <a:ext cx="347472" cy="347472"/>
          </a:xfrm>
          <a:prstGeom prst="rect">
            <a:avLst/>
          </a:prstGeom>
        </p:spPr>
      </p:pic>
      <p:sp>
        <p:nvSpPr>
          <p:cNvPr id="15" name="Text 11"/>
          <p:cNvSpPr/>
          <p:nvPr/>
        </p:nvSpPr>
        <p:spPr>
          <a:xfrm>
            <a:off x="4297680" y="2514600"/>
            <a:ext cx="1664208" cy="502920"/>
          </a:xfrm>
          <a:prstGeom prst="rect">
            <a:avLst/>
          </a:prstGeom>
          <a:noFill/>
          <a:ln/>
        </p:spPr>
        <p:txBody>
          <a:bodyPr wrap="square" lIns="0" tIns="0" rIns="0" bIns="0" rtlCol="0" anchor="ctr"/>
          <a:lstStyle/>
          <a:p>
            <a:pPr marL="0" indent="0">
              <a:buNone/>
            </a:pPr>
            <a:r>
              <a:rPr lang="en-US" sz="1800" b="1" dirty="0">
                <a:solidFill>
                  <a:srgbClr val="0D2B45"/>
                </a:solidFill>
                <a:latin typeface="Georgia" pitchFamily="34" charset="0"/>
                <a:ea typeface="Georgia" pitchFamily="34" charset="-122"/>
                <a:cs typeface="Georgia" pitchFamily="34" charset="-120"/>
              </a:rPr>
              <a:t>COTREC</a:t>
            </a:r>
            <a:endParaRPr lang="en-US" sz="1800" dirty="0"/>
          </a:p>
        </p:txBody>
      </p:sp>
      <p:sp>
        <p:nvSpPr>
          <p:cNvPr id="16" name="Text 12"/>
          <p:cNvSpPr/>
          <p:nvPr/>
        </p:nvSpPr>
        <p:spPr>
          <a:xfrm>
            <a:off x="3611880" y="3200400"/>
            <a:ext cx="2212848" cy="274320"/>
          </a:xfrm>
          <a:prstGeom prst="rect">
            <a:avLst/>
          </a:prstGeom>
          <a:noFill/>
          <a:ln/>
        </p:spPr>
        <p:txBody>
          <a:bodyPr wrap="square" lIns="0" tIns="0" rIns="0" bIns="0" rtlCol="0" anchor="ctr"/>
          <a:lstStyle/>
          <a:p>
            <a:pPr marL="0" indent="0">
              <a:buNone/>
            </a:pPr>
            <a:r>
              <a:rPr lang="en-US" sz="1050" i="1" dirty="0">
                <a:solidFill>
                  <a:srgbClr val="0E7C7B"/>
                </a:solidFill>
                <a:latin typeface="Calibri" pitchFamily="34" charset="0"/>
                <a:ea typeface="Calibri" pitchFamily="34" charset="-122"/>
                <a:cs typeface="Calibri" pitchFamily="34" charset="-120"/>
              </a:rPr>
              <a:t>Xia et al., CIKM 2021</a:t>
            </a:r>
            <a:endParaRPr lang="en-US" sz="1050" dirty="0"/>
          </a:p>
        </p:txBody>
      </p:sp>
      <p:sp>
        <p:nvSpPr>
          <p:cNvPr id="17" name="Text 13"/>
          <p:cNvSpPr/>
          <p:nvPr/>
        </p:nvSpPr>
        <p:spPr>
          <a:xfrm>
            <a:off x="3611880" y="3538728"/>
            <a:ext cx="2212848" cy="1280160"/>
          </a:xfrm>
          <a:prstGeom prst="rect">
            <a:avLst/>
          </a:prstGeom>
          <a:noFill/>
          <a:ln/>
        </p:spPr>
        <p:txBody>
          <a:bodyPr wrap="square" lIns="0" tIns="0" rIns="0" bIns="0" rtlCol="0" anchor="ctr"/>
          <a:lstStyle/>
          <a:p>
            <a:pPr marL="0" indent="0">
              <a:lnSpc>
                <a:spcPct val="105000"/>
              </a:lnSpc>
              <a:buNone/>
            </a:pPr>
            <a:r>
              <a:rPr lang="en-US" sz="1200" dirty="0">
                <a:solidFill>
                  <a:srgbClr val="1E293B"/>
                </a:solidFill>
                <a:latin typeface="Calibri" pitchFamily="34" charset="0"/>
                <a:ea typeface="Calibri" pitchFamily="34" charset="-122"/>
                <a:cs typeface="Calibri" pitchFamily="34" charset="-120"/>
              </a:rPr>
              <a:t>Dual-graph co-training: hai đồ thị, CL kéo hai biểu diễn lại gần.</a:t>
            </a:r>
            <a:endParaRPr lang="en-US" sz="1200" dirty="0"/>
          </a:p>
        </p:txBody>
      </p:sp>
      <p:sp>
        <p:nvSpPr>
          <p:cNvPr id="18" name="Shape 14"/>
          <p:cNvSpPr/>
          <p:nvPr/>
        </p:nvSpPr>
        <p:spPr>
          <a:xfrm>
            <a:off x="6217920" y="2240280"/>
            <a:ext cx="2670048" cy="2788920"/>
          </a:xfrm>
          <a:prstGeom prst="roundRect">
            <a:avLst>
              <a:gd name="adj" fmla="val 2740"/>
            </a:avLst>
          </a:prstGeom>
          <a:solidFill>
            <a:srgbClr val="FFFFFF"/>
          </a:solidFill>
          <a:ln w="12700">
            <a:solidFill>
              <a:srgbClr val="CBD5E1"/>
            </a:solidFill>
            <a:prstDash val="solid"/>
          </a:ln>
          <a:effectLst>
            <a:outerShdw blurRad="88900" dist="38100" dir="8100000" algn="bl" rotWithShape="0">
              <a:srgbClr val="000000">
                <a:alpha val="16000"/>
              </a:srgbClr>
            </a:outerShdw>
          </a:effectLst>
        </p:spPr>
      </p:sp>
      <p:sp>
        <p:nvSpPr>
          <p:cNvPr id="19" name="Shape 15"/>
          <p:cNvSpPr/>
          <p:nvPr/>
        </p:nvSpPr>
        <p:spPr>
          <a:xfrm>
            <a:off x="6446520" y="2478024"/>
            <a:ext cx="566928" cy="566928"/>
          </a:xfrm>
          <a:prstGeom prst="ellipse">
            <a:avLst/>
          </a:prstGeom>
          <a:solidFill>
            <a:srgbClr val="0E7C7B"/>
          </a:solidFill>
          <a:ln/>
        </p:spPr>
      </p:sp>
      <p:pic>
        <p:nvPicPr>
          <p:cNvPr id="20" name="Image 2" descr="preencoded.png"/>
          <p:cNvPicPr>
            <a:picLocks noChangeAspect="1"/>
          </p:cNvPicPr>
          <p:nvPr/>
        </p:nvPicPr>
        <p:blipFill>
          <a:blip r:embed="rId5"/>
          <a:stretch>
            <a:fillRect/>
          </a:stretch>
        </p:blipFill>
        <p:spPr>
          <a:xfrm>
            <a:off x="6556248" y="2587752"/>
            <a:ext cx="347472" cy="347472"/>
          </a:xfrm>
          <a:prstGeom prst="rect">
            <a:avLst/>
          </a:prstGeom>
        </p:spPr>
      </p:pic>
      <p:sp>
        <p:nvSpPr>
          <p:cNvPr id="21" name="Text 16"/>
          <p:cNvSpPr/>
          <p:nvPr/>
        </p:nvSpPr>
        <p:spPr>
          <a:xfrm>
            <a:off x="7132320" y="2514600"/>
            <a:ext cx="1664208" cy="502920"/>
          </a:xfrm>
          <a:prstGeom prst="rect">
            <a:avLst/>
          </a:prstGeom>
          <a:noFill/>
          <a:ln/>
        </p:spPr>
        <p:txBody>
          <a:bodyPr wrap="square" lIns="0" tIns="0" rIns="0" bIns="0" rtlCol="0" anchor="ctr"/>
          <a:lstStyle/>
          <a:p>
            <a:pPr marL="0" indent="0">
              <a:buNone/>
            </a:pPr>
            <a:r>
              <a:rPr lang="en-US" sz="1800" b="1" dirty="0">
                <a:solidFill>
                  <a:srgbClr val="0D2B45"/>
                </a:solidFill>
                <a:latin typeface="Georgia" pitchFamily="34" charset="0"/>
                <a:ea typeface="Georgia" pitchFamily="34" charset="-122"/>
                <a:cs typeface="Georgia" pitchFamily="34" charset="-120"/>
              </a:rPr>
              <a:t>S²-DHCN</a:t>
            </a:r>
            <a:endParaRPr lang="en-US" sz="1800" dirty="0"/>
          </a:p>
        </p:txBody>
      </p:sp>
      <p:sp>
        <p:nvSpPr>
          <p:cNvPr id="22" name="Text 17"/>
          <p:cNvSpPr/>
          <p:nvPr/>
        </p:nvSpPr>
        <p:spPr>
          <a:xfrm>
            <a:off x="6446520" y="3200400"/>
            <a:ext cx="2212848" cy="274320"/>
          </a:xfrm>
          <a:prstGeom prst="rect">
            <a:avLst/>
          </a:prstGeom>
          <a:noFill/>
          <a:ln/>
        </p:spPr>
        <p:txBody>
          <a:bodyPr wrap="square" lIns="0" tIns="0" rIns="0" bIns="0" rtlCol="0" anchor="ctr"/>
          <a:lstStyle/>
          <a:p>
            <a:pPr marL="0" indent="0">
              <a:buNone/>
            </a:pPr>
            <a:r>
              <a:rPr lang="en-US" sz="1050" i="1" dirty="0">
                <a:solidFill>
                  <a:srgbClr val="0E7C7B"/>
                </a:solidFill>
                <a:latin typeface="Calibri" pitchFamily="34" charset="0"/>
                <a:ea typeface="Calibri" pitchFamily="34" charset="-122"/>
                <a:cs typeface="Calibri" pitchFamily="34" charset="-120"/>
              </a:rPr>
              <a:t>Xia et al., AAAI 2021</a:t>
            </a:r>
            <a:endParaRPr lang="en-US" sz="1050" dirty="0"/>
          </a:p>
        </p:txBody>
      </p:sp>
      <p:sp>
        <p:nvSpPr>
          <p:cNvPr id="23" name="Text 18"/>
          <p:cNvSpPr/>
          <p:nvPr/>
        </p:nvSpPr>
        <p:spPr>
          <a:xfrm>
            <a:off x="6446520" y="3538728"/>
            <a:ext cx="2212848" cy="1280160"/>
          </a:xfrm>
          <a:prstGeom prst="rect">
            <a:avLst/>
          </a:prstGeom>
          <a:noFill/>
          <a:ln/>
        </p:spPr>
        <p:txBody>
          <a:bodyPr wrap="square" lIns="0" tIns="0" rIns="0" bIns="0" rtlCol="0" anchor="ctr"/>
          <a:lstStyle/>
          <a:p>
            <a:pPr marL="0" indent="0">
              <a:lnSpc>
                <a:spcPct val="105000"/>
              </a:lnSpc>
              <a:buNone/>
            </a:pPr>
            <a:r>
              <a:rPr lang="en-US" sz="1200" dirty="0">
                <a:solidFill>
                  <a:srgbClr val="1E293B"/>
                </a:solidFill>
                <a:latin typeface="Calibri" pitchFamily="34" charset="0"/>
                <a:ea typeface="Calibri" pitchFamily="34" charset="-122"/>
                <a:cs typeface="Calibri" pitchFamily="34" charset="-120"/>
              </a:rPr>
              <a:t>Dual hypergraph + mutual information maximization giữa hai view.</a:t>
            </a:r>
            <a:endParaRPr lang="en-US" sz="1200" dirty="0"/>
          </a:p>
        </p:txBody>
      </p:sp>
      <p:sp>
        <p:nvSpPr>
          <p:cNvPr id="24" name="Shape 19"/>
          <p:cNvSpPr/>
          <p:nvPr/>
        </p:nvSpPr>
        <p:spPr>
          <a:xfrm>
            <a:off x="9052560" y="2240280"/>
            <a:ext cx="2670048" cy="2788920"/>
          </a:xfrm>
          <a:prstGeom prst="roundRect">
            <a:avLst>
              <a:gd name="adj" fmla="val 2740"/>
            </a:avLst>
          </a:prstGeom>
          <a:solidFill>
            <a:srgbClr val="FFFFFF"/>
          </a:solidFill>
          <a:ln w="12700">
            <a:solidFill>
              <a:srgbClr val="CBD5E1"/>
            </a:solidFill>
            <a:prstDash val="solid"/>
          </a:ln>
          <a:effectLst>
            <a:outerShdw blurRad="88900" dist="38100" dir="8100000" algn="bl" rotWithShape="0">
              <a:srgbClr val="000000">
                <a:alpha val="16000"/>
              </a:srgbClr>
            </a:outerShdw>
          </a:effectLst>
        </p:spPr>
      </p:sp>
      <p:sp>
        <p:nvSpPr>
          <p:cNvPr id="25" name="Shape 20"/>
          <p:cNvSpPr/>
          <p:nvPr/>
        </p:nvSpPr>
        <p:spPr>
          <a:xfrm>
            <a:off x="9281160" y="2478024"/>
            <a:ext cx="566928" cy="566928"/>
          </a:xfrm>
          <a:prstGeom prst="ellipse">
            <a:avLst/>
          </a:prstGeom>
          <a:solidFill>
            <a:srgbClr val="0E7C7B"/>
          </a:solidFill>
          <a:ln/>
        </p:spPr>
      </p:sp>
      <p:pic>
        <p:nvPicPr>
          <p:cNvPr id="26" name="Image 3" descr="preencoded.png"/>
          <p:cNvPicPr>
            <a:picLocks noChangeAspect="1"/>
          </p:cNvPicPr>
          <p:nvPr/>
        </p:nvPicPr>
        <p:blipFill>
          <a:blip r:embed="rId6"/>
          <a:stretch>
            <a:fillRect/>
          </a:stretch>
        </p:blipFill>
        <p:spPr>
          <a:xfrm>
            <a:off x="9390888" y="2587752"/>
            <a:ext cx="347472" cy="347472"/>
          </a:xfrm>
          <a:prstGeom prst="rect">
            <a:avLst/>
          </a:prstGeom>
        </p:spPr>
      </p:pic>
      <p:sp>
        <p:nvSpPr>
          <p:cNvPr id="27" name="Text 21"/>
          <p:cNvSpPr/>
          <p:nvPr/>
        </p:nvSpPr>
        <p:spPr>
          <a:xfrm>
            <a:off x="9966960" y="2514600"/>
            <a:ext cx="1664208" cy="502920"/>
          </a:xfrm>
          <a:prstGeom prst="rect">
            <a:avLst/>
          </a:prstGeom>
          <a:noFill/>
          <a:ln/>
        </p:spPr>
        <p:txBody>
          <a:bodyPr wrap="square" lIns="0" tIns="0" rIns="0" bIns="0" rtlCol="0" anchor="ctr"/>
          <a:lstStyle/>
          <a:p>
            <a:pPr marL="0" indent="0">
              <a:buNone/>
            </a:pPr>
            <a:r>
              <a:rPr lang="en-US" sz="1800" b="1" dirty="0">
                <a:solidFill>
                  <a:srgbClr val="0D2B45"/>
                </a:solidFill>
                <a:latin typeface="Georgia" pitchFamily="34" charset="0"/>
                <a:ea typeface="Georgia" pitchFamily="34" charset="-122"/>
                <a:cs typeface="Georgia" pitchFamily="34" charset="-120"/>
              </a:rPr>
              <a:t>SCL</a:t>
            </a:r>
            <a:endParaRPr lang="en-US" sz="1800" dirty="0"/>
          </a:p>
        </p:txBody>
      </p:sp>
      <p:sp>
        <p:nvSpPr>
          <p:cNvPr id="28" name="Text 22"/>
          <p:cNvSpPr/>
          <p:nvPr/>
        </p:nvSpPr>
        <p:spPr>
          <a:xfrm>
            <a:off x="9281160" y="3200400"/>
            <a:ext cx="2212848" cy="274320"/>
          </a:xfrm>
          <a:prstGeom prst="rect">
            <a:avLst/>
          </a:prstGeom>
          <a:noFill/>
          <a:ln/>
        </p:spPr>
        <p:txBody>
          <a:bodyPr wrap="square" lIns="0" tIns="0" rIns="0" bIns="0" rtlCol="0" anchor="ctr"/>
          <a:lstStyle/>
          <a:p>
            <a:pPr marL="0" indent="0">
              <a:buNone/>
            </a:pPr>
            <a:r>
              <a:rPr lang="en-US" sz="1050" i="1" dirty="0">
                <a:solidFill>
                  <a:srgbClr val="0E7C7B"/>
                </a:solidFill>
                <a:latin typeface="Calibri" pitchFamily="34" charset="0"/>
                <a:ea typeface="Calibri" pitchFamily="34" charset="-122"/>
                <a:cs typeface="Calibri" pitchFamily="34" charset="-120"/>
              </a:rPr>
              <a:t>Shi et al., ECIR 2024</a:t>
            </a:r>
            <a:endParaRPr lang="en-US" sz="1050" dirty="0"/>
          </a:p>
        </p:txBody>
      </p:sp>
      <p:sp>
        <p:nvSpPr>
          <p:cNvPr id="29" name="Text 23"/>
          <p:cNvSpPr/>
          <p:nvPr/>
        </p:nvSpPr>
        <p:spPr>
          <a:xfrm>
            <a:off x="9281160" y="3538728"/>
            <a:ext cx="2212848" cy="1280160"/>
          </a:xfrm>
          <a:prstGeom prst="rect">
            <a:avLst/>
          </a:prstGeom>
          <a:noFill/>
          <a:ln/>
        </p:spPr>
        <p:txBody>
          <a:bodyPr wrap="square" lIns="0" tIns="0" rIns="0" bIns="0" rtlCol="0" anchor="ctr"/>
          <a:lstStyle/>
          <a:p>
            <a:pPr marL="0" indent="0">
              <a:lnSpc>
                <a:spcPct val="105000"/>
              </a:lnSpc>
              <a:buNone/>
            </a:pPr>
            <a:r>
              <a:rPr lang="en-US" sz="1200" dirty="0">
                <a:solidFill>
                  <a:srgbClr val="1E293B"/>
                </a:solidFill>
                <a:latin typeface="Calibri" pitchFamily="34" charset="0"/>
                <a:ea typeface="Calibri" pitchFamily="34" charset="-122"/>
                <a:cs typeface="Calibri" pitchFamily="34" charset="-120"/>
              </a:rPr>
              <a:t>Bỏ HOÀN TOÀN augmentation, chỉ dùng uniformity — vẫn hiệu quả ⚠</a:t>
            </a:r>
            <a:endParaRPr lang="en-US" sz="1200" dirty="0"/>
          </a:p>
        </p:txBody>
      </p:sp>
      <p:sp>
        <p:nvSpPr>
          <p:cNvPr id="30" name="Text 24"/>
          <p:cNvSpPr/>
          <p:nvPr/>
        </p:nvSpPr>
        <p:spPr>
          <a:xfrm>
            <a:off x="548640" y="5257800"/>
            <a:ext cx="11064240" cy="365760"/>
          </a:xfrm>
          <a:prstGeom prst="rect">
            <a:avLst/>
          </a:prstGeom>
          <a:noFill/>
          <a:ln/>
        </p:spPr>
        <p:txBody>
          <a:bodyPr wrap="square" lIns="0" tIns="0" rIns="0" bIns="0" rtlCol="0" anchor="ctr"/>
          <a:lstStyle/>
          <a:p>
            <a:pPr marL="0" indent="0">
              <a:buNone/>
            </a:pPr>
            <a:r>
              <a:rPr lang="en-US" sz="1400" dirty="0">
                <a:solidFill>
                  <a:srgbClr val="1E293B"/>
                </a:solidFill>
                <a:latin typeface="Calibri" pitchFamily="34" charset="0"/>
                <a:ea typeface="Calibri" pitchFamily="34" charset="-122"/>
                <a:cs typeface="Calibri" pitchFamily="34" charset="-120"/>
              </a:rPr>
              <a:t>CL4SRec:  augmentation có nhưng NGẪU NHIÊN.   </a:t>
            </a:r>
            <a:r>
              <a:rPr lang="en-US" sz="1400" b="1" dirty="0">
                <a:solidFill>
                  <a:srgbClr val="F4A261"/>
                </a:solidFill>
                <a:latin typeface="Calibri" pitchFamily="34" charset="0"/>
                <a:ea typeface="Calibri" pitchFamily="34" charset="-122"/>
                <a:cs typeface="Calibri" pitchFamily="34" charset="-120"/>
              </a:rPr>
              <a:t>SCL:  CL hiệu quả mà KHÔNG cần augmentation.</a:t>
            </a:r>
            <a:endParaRPr lang="en-US" sz="1400" dirty="0"/>
          </a:p>
        </p:txBody>
      </p:sp>
      <p:sp>
        <p:nvSpPr>
          <p:cNvPr id="31" name="Text 25"/>
          <p:cNvSpPr/>
          <p:nvPr/>
        </p:nvSpPr>
        <p:spPr>
          <a:xfrm>
            <a:off x="548640" y="6473952"/>
            <a:ext cx="54864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CatSA · Background &amp; Motivation</a:t>
            </a:r>
            <a:endParaRPr lang="en-US" sz="900" dirty="0"/>
          </a:p>
        </p:txBody>
      </p:sp>
      <p:sp>
        <p:nvSpPr>
          <p:cNvPr id="32" name="Text 26"/>
          <p:cNvSpPr/>
          <p:nvPr/>
        </p:nvSpPr>
        <p:spPr>
          <a:xfrm>
            <a:off x="11155680" y="6473952"/>
            <a:ext cx="4572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6</a:t>
            </a:r>
            <a:endParaRPr lang="en-US" sz="9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2B45"/>
        </a:solidFill>
        <a:effectLst/>
      </p:bgPr>
    </p:bg>
    <p:spTree>
      <p:nvGrpSpPr>
        <p:cNvPr id="1" name=""/>
        <p:cNvGrpSpPr/>
        <p:nvPr/>
      </p:nvGrpSpPr>
      <p:grpSpPr>
        <a:xfrm>
          <a:off x="0" y="0"/>
          <a:ext cx="0" cy="0"/>
          <a:chOff x="0" y="0"/>
          <a:chExt cx="0" cy="0"/>
        </a:xfrm>
      </p:grpSpPr>
      <p:sp>
        <p:nvSpPr>
          <p:cNvPr id="2" name="Text 0"/>
          <p:cNvSpPr/>
          <p:nvPr/>
        </p:nvSpPr>
        <p:spPr>
          <a:xfrm>
            <a:off x="548640" y="502920"/>
            <a:ext cx="10972800" cy="365760"/>
          </a:xfrm>
          <a:prstGeom prst="rect">
            <a:avLst/>
          </a:prstGeom>
          <a:noFill/>
          <a:ln/>
        </p:spPr>
        <p:txBody>
          <a:bodyPr wrap="square" lIns="0" tIns="0" rIns="0" bIns="0" rtlCol="0" anchor="ctr"/>
          <a:lstStyle/>
          <a:p>
            <a:pPr marL="0" indent="0">
              <a:buNone/>
            </a:pPr>
            <a:r>
              <a:rPr lang="en-US" sz="1300" b="1" kern="0" spc="300" dirty="0">
                <a:solidFill>
                  <a:srgbClr val="5EC9C7"/>
                </a:solidFill>
                <a:latin typeface="Arial" pitchFamily="34" charset="0"/>
                <a:ea typeface="Arial" pitchFamily="34" charset="-122"/>
                <a:cs typeface="Arial" pitchFamily="34" charset="-120"/>
              </a:rPr>
              <a:t>MỘT NGHỊCH LÝ TRONG LITERATURE</a:t>
            </a:r>
            <a:endParaRPr lang="en-US" sz="1300" dirty="0"/>
          </a:p>
        </p:txBody>
      </p:sp>
      <p:sp>
        <p:nvSpPr>
          <p:cNvPr id="3" name="Text 1"/>
          <p:cNvSpPr/>
          <p:nvPr/>
        </p:nvSpPr>
        <p:spPr>
          <a:xfrm>
            <a:off x="548640" y="868680"/>
            <a:ext cx="10972800" cy="731520"/>
          </a:xfrm>
          <a:prstGeom prst="rect">
            <a:avLst/>
          </a:prstGeom>
          <a:noFill/>
          <a:ln/>
        </p:spPr>
        <p:txBody>
          <a:bodyPr wrap="square" lIns="0" tIns="0" rIns="0" bIns="0" rtlCol="0" anchor="ctr"/>
          <a:lstStyle/>
          <a:p>
            <a:pPr marL="0" indent="0">
              <a:buNone/>
            </a:pPr>
            <a:r>
              <a:rPr lang="en-US" sz="3200" b="1" dirty="0">
                <a:solidFill>
                  <a:srgbClr val="FFFFFF"/>
                </a:solidFill>
                <a:latin typeface="Georgia" pitchFamily="34" charset="0"/>
                <a:ea typeface="Georgia" pitchFamily="34" charset="-122"/>
                <a:cs typeface="Georgia" pitchFamily="34" charset="-120"/>
              </a:rPr>
              <a:t>Augmentation có thực sự cần thiết?</a:t>
            </a:r>
            <a:endParaRPr lang="en-US" sz="3200" dirty="0"/>
          </a:p>
        </p:txBody>
      </p:sp>
      <p:sp>
        <p:nvSpPr>
          <p:cNvPr id="4" name="Shape 2"/>
          <p:cNvSpPr/>
          <p:nvPr/>
        </p:nvSpPr>
        <p:spPr>
          <a:xfrm>
            <a:off x="548640" y="1920240"/>
            <a:ext cx="3383280" cy="2103120"/>
          </a:xfrm>
          <a:prstGeom prst="roundRect">
            <a:avLst>
              <a:gd name="adj" fmla="val 4348"/>
            </a:avLst>
          </a:prstGeom>
          <a:solidFill>
            <a:srgbClr val="13395B"/>
          </a:solidFill>
          <a:ln w="25400">
            <a:solidFill>
              <a:srgbClr val="0E7C7B"/>
            </a:solidFill>
            <a:prstDash val="solid"/>
          </a:ln>
          <a:effectLst>
            <a:outerShdw blurRad="88900" dist="38100" dir="8100000" algn="bl" rotWithShape="0">
              <a:srgbClr val="000000">
                <a:alpha val="16000"/>
              </a:srgbClr>
            </a:outerShdw>
          </a:effectLst>
        </p:spPr>
      </p:sp>
      <p:sp>
        <p:nvSpPr>
          <p:cNvPr id="5" name="Text 3"/>
          <p:cNvSpPr/>
          <p:nvPr/>
        </p:nvSpPr>
        <p:spPr>
          <a:xfrm>
            <a:off x="822960" y="2148840"/>
            <a:ext cx="2834640" cy="457200"/>
          </a:xfrm>
          <a:prstGeom prst="rect">
            <a:avLst/>
          </a:prstGeom>
          <a:noFill/>
          <a:ln/>
        </p:spPr>
        <p:txBody>
          <a:bodyPr wrap="square" lIns="0" tIns="0" rIns="0" bIns="0"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CL4SRec</a:t>
            </a:r>
            <a:endParaRPr lang="en-US" sz="2200" dirty="0"/>
          </a:p>
        </p:txBody>
      </p:sp>
      <p:sp>
        <p:nvSpPr>
          <p:cNvPr id="6" name="Text 4"/>
          <p:cNvSpPr/>
          <p:nvPr/>
        </p:nvSpPr>
        <p:spPr>
          <a:xfrm>
            <a:off x="822960" y="2633472"/>
            <a:ext cx="2834640" cy="274320"/>
          </a:xfrm>
          <a:prstGeom prst="rect">
            <a:avLst/>
          </a:prstGeom>
          <a:noFill/>
          <a:ln/>
        </p:spPr>
        <p:txBody>
          <a:bodyPr wrap="square" lIns="0" tIns="0" rIns="0" bIns="0" rtlCol="0" anchor="ctr"/>
          <a:lstStyle/>
          <a:p>
            <a:pPr marL="0" indent="0">
              <a:buNone/>
            </a:pPr>
            <a:r>
              <a:rPr lang="en-US" sz="1200" i="1" dirty="0">
                <a:solidFill>
                  <a:srgbClr val="0E7C7B"/>
                </a:solidFill>
                <a:latin typeface="Calibri" pitchFamily="34" charset="0"/>
                <a:ea typeface="Calibri" pitchFamily="34" charset="-122"/>
                <a:cs typeface="Calibri" pitchFamily="34" charset="-120"/>
              </a:rPr>
              <a:t>ICDE 2022</a:t>
            </a:r>
            <a:endParaRPr lang="en-US" sz="1200" dirty="0"/>
          </a:p>
        </p:txBody>
      </p:sp>
      <p:sp>
        <p:nvSpPr>
          <p:cNvPr id="7" name="Text 5"/>
          <p:cNvSpPr/>
          <p:nvPr/>
        </p:nvSpPr>
        <p:spPr>
          <a:xfrm>
            <a:off x="822960" y="2999232"/>
            <a:ext cx="2834640" cy="868680"/>
          </a:xfrm>
          <a:prstGeom prst="rect">
            <a:avLst/>
          </a:prstGeom>
          <a:noFill/>
          <a:ln/>
        </p:spPr>
        <p:txBody>
          <a:bodyPr wrap="square" lIns="0" tIns="0" rIns="0" bIns="0" rtlCol="0" anchor="ctr"/>
          <a:lstStyle/>
          <a:p>
            <a:pPr marL="0" indent="0">
              <a:lnSpc>
                <a:spcPct val="105000"/>
              </a:lnSpc>
              <a:buNone/>
            </a:pPr>
            <a:r>
              <a:rPr lang="en-US" sz="1500" b="1" dirty="0">
                <a:solidFill>
                  <a:srgbClr val="E2E8F0"/>
                </a:solidFill>
                <a:latin typeface="Calibri" pitchFamily="34" charset="0"/>
                <a:ea typeface="Calibri" pitchFamily="34" charset="-122"/>
                <a:cs typeface="Calibri" pitchFamily="34" charset="-120"/>
              </a:rPr>
              <a:t>Augmentation + CL</a:t>
            </a:r>
            <a:endParaRPr lang="en-US" sz="1500" dirty="0"/>
          </a:p>
          <a:p>
            <a:pPr marL="0" indent="0">
              <a:lnSpc>
                <a:spcPct val="105000"/>
              </a:lnSpc>
              <a:buNone/>
            </a:pPr>
            <a:r>
              <a:rPr lang="en-US" sz="1500" b="1" dirty="0">
                <a:solidFill>
                  <a:srgbClr val="E2E8F0"/>
                </a:solidFill>
                <a:latin typeface="Calibri" pitchFamily="34" charset="0"/>
                <a:ea typeface="Calibri" pitchFamily="34" charset="-122"/>
                <a:cs typeface="Calibri" pitchFamily="34" charset="-120"/>
              </a:rPr>
              <a:t>CÓ giá trị</a:t>
            </a:r>
            <a:endParaRPr lang="en-US" sz="1500" dirty="0"/>
          </a:p>
        </p:txBody>
      </p:sp>
      <p:sp>
        <p:nvSpPr>
          <p:cNvPr id="8" name="Shape 6"/>
          <p:cNvSpPr/>
          <p:nvPr/>
        </p:nvSpPr>
        <p:spPr>
          <a:xfrm>
            <a:off x="4389120" y="1920240"/>
            <a:ext cx="3383280" cy="2103120"/>
          </a:xfrm>
          <a:prstGeom prst="roundRect">
            <a:avLst>
              <a:gd name="adj" fmla="val 4348"/>
            </a:avLst>
          </a:prstGeom>
          <a:solidFill>
            <a:srgbClr val="13395B"/>
          </a:solidFill>
          <a:ln w="25400">
            <a:solidFill>
              <a:srgbClr val="F4A261"/>
            </a:solidFill>
            <a:prstDash val="solid"/>
          </a:ln>
          <a:effectLst>
            <a:outerShdw blurRad="88900" dist="38100" dir="8100000" algn="bl" rotWithShape="0">
              <a:srgbClr val="000000">
                <a:alpha val="16000"/>
              </a:srgbClr>
            </a:outerShdw>
          </a:effectLst>
        </p:spPr>
      </p:sp>
      <p:sp>
        <p:nvSpPr>
          <p:cNvPr id="9" name="Text 7"/>
          <p:cNvSpPr/>
          <p:nvPr/>
        </p:nvSpPr>
        <p:spPr>
          <a:xfrm>
            <a:off x="4663440" y="2148840"/>
            <a:ext cx="2834640" cy="457200"/>
          </a:xfrm>
          <a:prstGeom prst="rect">
            <a:avLst/>
          </a:prstGeom>
          <a:noFill/>
          <a:ln/>
        </p:spPr>
        <p:txBody>
          <a:bodyPr wrap="square" lIns="0" tIns="0" rIns="0" bIns="0"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SCL</a:t>
            </a:r>
            <a:endParaRPr lang="en-US" sz="2200" dirty="0"/>
          </a:p>
        </p:txBody>
      </p:sp>
      <p:sp>
        <p:nvSpPr>
          <p:cNvPr id="10" name="Text 8"/>
          <p:cNvSpPr/>
          <p:nvPr/>
        </p:nvSpPr>
        <p:spPr>
          <a:xfrm>
            <a:off x="4663440" y="2633472"/>
            <a:ext cx="2834640" cy="274320"/>
          </a:xfrm>
          <a:prstGeom prst="rect">
            <a:avLst/>
          </a:prstGeom>
          <a:noFill/>
          <a:ln/>
        </p:spPr>
        <p:txBody>
          <a:bodyPr wrap="square" lIns="0" tIns="0" rIns="0" bIns="0" rtlCol="0" anchor="ctr"/>
          <a:lstStyle/>
          <a:p>
            <a:pPr marL="0" indent="0">
              <a:buNone/>
            </a:pPr>
            <a:r>
              <a:rPr lang="en-US" sz="1200" i="1" dirty="0">
                <a:solidFill>
                  <a:srgbClr val="F4A261"/>
                </a:solidFill>
                <a:latin typeface="Calibri" pitchFamily="34" charset="0"/>
                <a:ea typeface="Calibri" pitchFamily="34" charset="-122"/>
                <a:cs typeface="Calibri" pitchFamily="34" charset="-120"/>
              </a:rPr>
              <a:t>ECIR 2024</a:t>
            </a:r>
            <a:endParaRPr lang="en-US" sz="1200" dirty="0"/>
          </a:p>
        </p:txBody>
      </p:sp>
      <p:sp>
        <p:nvSpPr>
          <p:cNvPr id="11" name="Text 9"/>
          <p:cNvSpPr/>
          <p:nvPr/>
        </p:nvSpPr>
        <p:spPr>
          <a:xfrm>
            <a:off x="4663440" y="2999232"/>
            <a:ext cx="2834640" cy="868680"/>
          </a:xfrm>
          <a:prstGeom prst="rect">
            <a:avLst/>
          </a:prstGeom>
          <a:noFill/>
          <a:ln/>
        </p:spPr>
        <p:txBody>
          <a:bodyPr wrap="square" lIns="0" tIns="0" rIns="0" bIns="0" rtlCol="0" anchor="ctr"/>
          <a:lstStyle/>
          <a:p>
            <a:pPr marL="0" indent="0">
              <a:lnSpc>
                <a:spcPct val="105000"/>
              </a:lnSpc>
              <a:buNone/>
            </a:pPr>
            <a:r>
              <a:rPr lang="en-US" sz="1500" b="1" dirty="0">
                <a:solidFill>
                  <a:srgbClr val="E2E8F0"/>
                </a:solidFill>
                <a:latin typeface="Calibri" pitchFamily="34" charset="0"/>
                <a:ea typeface="Calibri" pitchFamily="34" charset="-122"/>
                <a:cs typeface="Calibri" pitchFamily="34" charset="-120"/>
              </a:rPr>
              <a:t>CL hiệu quả</a:t>
            </a:r>
            <a:endParaRPr lang="en-US" sz="1500" dirty="0"/>
          </a:p>
          <a:p>
            <a:pPr marL="0" indent="0">
              <a:lnSpc>
                <a:spcPct val="105000"/>
              </a:lnSpc>
              <a:buNone/>
            </a:pPr>
            <a:r>
              <a:rPr lang="en-US" sz="1500" b="1" dirty="0">
                <a:solidFill>
                  <a:srgbClr val="E2E8F0"/>
                </a:solidFill>
                <a:latin typeface="Calibri" pitchFamily="34" charset="0"/>
                <a:ea typeface="Calibri" pitchFamily="34" charset="-122"/>
                <a:cs typeface="Calibri" pitchFamily="34" charset="-120"/>
              </a:rPr>
              <a:t>KHÔNG cần augmentation</a:t>
            </a:r>
            <a:endParaRPr lang="en-US" sz="1500" dirty="0"/>
          </a:p>
        </p:txBody>
      </p:sp>
      <p:sp>
        <p:nvSpPr>
          <p:cNvPr id="12" name="Shape 10"/>
          <p:cNvSpPr/>
          <p:nvPr/>
        </p:nvSpPr>
        <p:spPr>
          <a:xfrm>
            <a:off x="8229600" y="1920240"/>
            <a:ext cx="3383280" cy="2103120"/>
          </a:xfrm>
          <a:prstGeom prst="roundRect">
            <a:avLst>
              <a:gd name="adj" fmla="val 4348"/>
            </a:avLst>
          </a:prstGeom>
          <a:solidFill>
            <a:srgbClr val="13395B"/>
          </a:solidFill>
          <a:ln w="25400">
            <a:solidFill>
              <a:srgbClr val="F4A261"/>
            </a:solidFill>
            <a:prstDash val="solid"/>
          </a:ln>
          <a:effectLst>
            <a:outerShdw blurRad="88900" dist="38100" dir="8100000" algn="bl" rotWithShape="0">
              <a:srgbClr val="000000">
                <a:alpha val="16000"/>
              </a:srgbClr>
            </a:outerShdw>
          </a:effectLst>
        </p:spPr>
      </p:sp>
      <p:sp>
        <p:nvSpPr>
          <p:cNvPr id="13" name="Text 11"/>
          <p:cNvSpPr/>
          <p:nvPr/>
        </p:nvSpPr>
        <p:spPr>
          <a:xfrm>
            <a:off x="8503920" y="2148840"/>
            <a:ext cx="2834640" cy="457200"/>
          </a:xfrm>
          <a:prstGeom prst="rect">
            <a:avLst/>
          </a:prstGeom>
          <a:noFill/>
          <a:ln/>
        </p:spPr>
        <p:txBody>
          <a:bodyPr wrap="square" lIns="0" tIns="0" rIns="0" bIns="0"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Zhou et al.</a:t>
            </a:r>
            <a:endParaRPr lang="en-US" sz="2200" dirty="0"/>
          </a:p>
        </p:txBody>
      </p:sp>
      <p:sp>
        <p:nvSpPr>
          <p:cNvPr id="14" name="Text 12"/>
          <p:cNvSpPr/>
          <p:nvPr/>
        </p:nvSpPr>
        <p:spPr>
          <a:xfrm>
            <a:off x="8503920" y="2633472"/>
            <a:ext cx="2834640" cy="274320"/>
          </a:xfrm>
          <a:prstGeom prst="rect">
            <a:avLst/>
          </a:prstGeom>
          <a:noFill/>
          <a:ln/>
        </p:spPr>
        <p:txBody>
          <a:bodyPr wrap="square" lIns="0" tIns="0" rIns="0" bIns="0" rtlCol="0" anchor="ctr"/>
          <a:lstStyle/>
          <a:p>
            <a:pPr marL="0" indent="0">
              <a:buNone/>
            </a:pPr>
            <a:r>
              <a:rPr lang="en-US" sz="1200" i="1" dirty="0">
                <a:solidFill>
                  <a:srgbClr val="F4A261"/>
                </a:solidFill>
                <a:latin typeface="Calibri" pitchFamily="34" charset="0"/>
                <a:ea typeface="Calibri" pitchFamily="34" charset="-122"/>
                <a:cs typeface="Calibri" pitchFamily="34" charset="-120"/>
              </a:rPr>
              <a:t>WWW 2024</a:t>
            </a:r>
            <a:endParaRPr lang="en-US" sz="1200" dirty="0"/>
          </a:p>
        </p:txBody>
      </p:sp>
      <p:sp>
        <p:nvSpPr>
          <p:cNvPr id="15" name="Text 13"/>
          <p:cNvSpPr/>
          <p:nvPr/>
        </p:nvSpPr>
        <p:spPr>
          <a:xfrm>
            <a:off x="8503920" y="2999232"/>
            <a:ext cx="2834640" cy="868680"/>
          </a:xfrm>
          <a:prstGeom prst="rect">
            <a:avLst/>
          </a:prstGeom>
          <a:noFill/>
          <a:ln/>
        </p:spPr>
        <p:txBody>
          <a:bodyPr wrap="square" lIns="0" tIns="0" rIns="0" bIns="0" rtlCol="0" anchor="ctr"/>
          <a:lstStyle/>
          <a:p>
            <a:pPr marL="0" indent="0">
              <a:lnSpc>
                <a:spcPct val="105000"/>
              </a:lnSpc>
              <a:buNone/>
            </a:pPr>
            <a:r>
              <a:rPr lang="en-US" sz="1500" b="1" dirty="0">
                <a:solidFill>
                  <a:srgbClr val="E2E8F0"/>
                </a:solidFill>
                <a:latin typeface="Calibri" pitchFamily="34" charset="0"/>
                <a:ea typeface="Calibri" pitchFamily="34" charset="-122"/>
                <a:cs typeface="Calibri" pitchFamily="34" charset="-120"/>
              </a:rPr>
              <a:t>Augmentation tốt một mình</a:t>
            </a:r>
            <a:endParaRPr lang="en-US" sz="1500" dirty="0"/>
          </a:p>
          <a:p>
            <a:pPr marL="0" indent="0">
              <a:lnSpc>
                <a:spcPct val="105000"/>
              </a:lnSpc>
              <a:buNone/>
            </a:pPr>
            <a:r>
              <a:rPr lang="en-US" sz="1500" b="1" dirty="0">
                <a:solidFill>
                  <a:srgbClr val="E2E8F0"/>
                </a:solidFill>
                <a:latin typeface="Calibri" pitchFamily="34" charset="0"/>
                <a:ea typeface="Calibri" pitchFamily="34" charset="-122"/>
                <a:cs typeface="Calibri" pitchFamily="34" charset="-120"/>
              </a:rPr>
              <a:t>ĐỦ, không cần CL</a:t>
            </a:r>
            <a:endParaRPr lang="en-US" sz="1500" dirty="0"/>
          </a:p>
        </p:txBody>
      </p:sp>
      <p:sp>
        <p:nvSpPr>
          <p:cNvPr id="16" name="Text 14"/>
          <p:cNvSpPr/>
          <p:nvPr/>
        </p:nvSpPr>
        <p:spPr>
          <a:xfrm>
            <a:off x="3931920" y="2743200"/>
            <a:ext cx="457200" cy="457200"/>
          </a:xfrm>
          <a:prstGeom prst="rect">
            <a:avLst/>
          </a:prstGeom>
          <a:noFill/>
          <a:ln/>
        </p:spPr>
        <p:txBody>
          <a:bodyPr wrap="square" lIns="0" tIns="0" rIns="0" bIns="0" rtlCol="0" anchor="ctr"/>
          <a:lstStyle/>
          <a:p>
            <a:pPr marL="0" indent="0" algn="ctr">
              <a:buNone/>
            </a:pPr>
            <a:r>
              <a:rPr lang="en-US" sz="1800" b="1" i="1" dirty="0">
                <a:solidFill>
                  <a:srgbClr val="F4A261"/>
                </a:solidFill>
                <a:latin typeface="Georgia" pitchFamily="34" charset="0"/>
                <a:ea typeface="Georgia" pitchFamily="34" charset="-122"/>
                <a:cs typeface="Georgia" pitchFamily="34" charset="-120"/>
              </a:rPr>
              <a:t>vs</a:t>
            </a:r>
            <a:endParaRPr lang="en-US" sz="1800" dirty="0"/>
          </a:p>
        </p:txBody>
      </p:sp>
      <p:sp>
        <p:nvSpPr>
          <p:cNvPr id="17" name="Text 15"/>
          <p:cNvSpPr/>
          <p:nvPr/>
        </p:nvSpPr>
        <p:spPr>
          <a:xfrm>
            <a:off x="7772400" y="2743200"/>
            <a:ext cx="457200" cy="457200"/>
          </a:xfrm>
          <a:prstGeom prst="rect">
            <a:avLst/>
          </a:prstGeom>
          <a:noFill/>
          <a:ln/>
        </p:spPr>
        <p:txBody>
          <a:bodyPr wrap="square" lIns="0" tIns="0" rIns="0" bIns="0" rtlCol="0" anchor="ctr"/>
          <a:lstStyle/>
          <a:p>
            <a:pPr marL="0" indent="0" algn="ctr">
              <a:buNone/>
            </a:pPr>
            <a:r>
              <a:rPr lang="en-US" sz="1800" b="1" i="1" dirty="0">
                <a:solidFill>
                  <a:srgbClr val="94A3B8"/>
                </a:solidFill>
                <a:latin typeface="Georgia" pitchFamily="34" charset="0"/>
                <a:ea typeface="Georgia" pitchFamily="34" charset="-122"/>
                <a:cs typeface="Georgia" pitchFamily="34" charset="-120"/>
              </a:rPr>
              <a:t>&amp;</a:t>
            </a:r>
            <a:endParaRPr lang="en-US" sz="1800" dirty="0"/>
          </a:p>
        </p:txBody>
      </p:sp>
      <p:sp>
        <p:nvSpPr>
          <p:cNvPr id="18" name="Shape 16"/>
          <p:cNvSpPr/>
          <p:nvPr/>
        </p:nvSpPr>
        <p:spPr>
          <a:xfrm>
            <a:off x="1371600" y="4526280"/>
            <a:ext cx="9418320" cy="1417320"/>
          </a:xfrm>
          <a:prstGeom prst="roundRect">
            <a:avLst>
              <a:gd name="adj" fmla="val 6452"/>
            </a:avLst>
          </a:prstGeom>
          <a:solidFill>
            <a:srgbClr val="10243A"/>
          </a:solidFill>
          <a:ln w="19050">
            <a:solidFill>
              <a:srgbClr val="F4A261"/>
            </a:solidFill>
            <a:prstDash val="solid"/>
          </a:ln>
        </p:spPr>
      </p:sp>
      <p:pic>
        <p:nvPicPr>
          <p:cNvPr id="19" name="Image 0" descr="preencoded.png"/>
          <p:cNvPicPr>
            <a:picLocks noChangeAspect="1"/>
          </p:cNvPicPr>
          <p:nvPr/>
        </p:nvPicPr>
        <p:blipFill>
          <a:blip r:embed="rId3"/>
          <a:stretch>
            <a:fillRect/>
          </a:stretch>
        </p:blipFill>
        <p:spPr>
          <a:xfrm>
            <a:off x="1737360" y="4892040"/>
            <a:ext cx="640080" cy="640080"/>
          </a:xfrm>
          <a:prstGeom prst="rect">
            <a:avLst/>
          </a:prstGeom>
        </p:spPr>
      </p:pic>
      <p:sp>
        <p:nvSpPr>
          <p:cNvPr id="20" name="Text 17"/>
          <p:cNvSpPr/>
          <p:nvPr/>
        </p:nvSpPr>
        <p:spPr>
          <a:xfrm>
            <a:off x="2606040" y="4754880"/>
            <a:ext cx="7863840" cy="548640"/>
          </a:xfrm>
          <a:prstGeom prst="rect">
            <a:avLst/>
          </a:prstGeom>
          <a:noFill/>
          <a:ln/>
        </p:spPr>
        <p:txBody>
          <a:bodyPr wrap="square" lIns="0" tIns="0" rIns="0" bIns="0" rtlCol="0" anchor="ctr"/>
          <a:lstStyle/>
          <a:p>
            <a:pPr marL="0" indent="0">
              <a:buNone/>
            </a:pPr>
            <a:r>
              <a:rPr lang="en-US" sz="1800" b="1" dirty="0">
                <a:solidFill>
                  <a:srgbClr val="F4A261"/>
                </a:solidFill>
                <a:latin typeface="Calibri" pitchFamily="34" charset="0"/>
                <a:ea typeface="Calibri" pitchFamily="34" charset="-122"/>
                <a:cs typeface="Calibri" pitchFamily="34" charset="-120"/>
              </a:rPr>
              <a:t>Cả ba không thể cùng đúng — </a:t>
            </a:r>
            <a:r>
              <a:rPr lang="en-US" sz="1800" dirty="0">
                <a:solidFill>
                  <a:srgbClr val="FFFFFF"/>
                </a:solidFill>
                <a:latin typeface="Calibri" pitchFamily="34" charset="0"/>
                <a:ea typeface="Calibri" pitchFamily="34" charset="-122"/>
                <a:cs typeface="Calibri" pitchFamily="34" charset="-120"/>
              </a:rPr>
              <a:t>nếu “augmentation” là một khái niệm đơn nhất.</a:t>
            </a:r>
            <a:endParaRPr lang="en-US" sz="1800" dirty="0"/>
          </a:p>
        </p:txBody>
      </p:sp>
      <p:sp>
        <p:nvSpPr>
          <p:cNvPr id="21" name="Text 18"/>
          <p:cNvSpPr/>
          <p:nvPr/>
        </p:nvSpPr>
        <p:spPr>
          <a:xfrm>
            <a:off x="2606040" y="5349240"/>
            <a:ext cx="7863840" cy="411480"/>
          </a:xfrm>
          <a:prstGeom prst="rect">
            <a:avLst/>
          </a:prstGeom>
          <a:noFill/>
          <a:ln/>
        </p:spPr>
        <p:txBody>
          <a:bodyPr wrap="square" lIns="0" tIns="0" rIns="0" bIns="0" rtlCol="0" anchor="ctr"/>
          <a:lstStyle/>
          <a:p>
            <a:pPr marL="0" indent="0">
              <a:buNone/>
            </a:pPr>
            <a:r>
              <a:rPr lang="en-US" sz="1400" i="1" dirty="0">
                <a:solidFill>
                  <a:srgbClr val="94A3B8"/>
                </a:solidFill>
                <a:latin typeface="Calibri" pitchFamily="34" charset="0"/>
                <a:ea typeface="Calibri" pitchFamily="34" charset="-122"/>
                <a:cs typeface="Calibri" pitchFamily="34" charset="-120"/>
              </a:rPr>
              <a:t>Lối ra: phân biệt các LOẠI augmentation khác nhau →</a:t>
            </a:r>
            <a:endParaRPr lang="en-US" sz="1400" dirty="0"/>
          </a:p>
        </p:txBody>
      </p:sp>
      <p:sp>
        <p:nvSpPr>
          <p:cNvPr id="22" name="Text 19"/>
          <p:cNvSpPr/>
          <p:nvPr/>
        </p:nvSpPr>
        <p:spPr>
          <a:xfrm>
            <a:off x="548640" y="6473952"/>
            <a:ext cx="54864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CatSA · Background &amp; Motivation</a:t>
            </a:r>
            <a:endParaRPr lang="en-US" sz="900" dirty="0"/>
          </a:p>
        </p:txBody>
      </p:sp>
      <p:sp>
        <p:nvSpPr>
          <p:cNvPr id="23" name="Text 20"/>
          <p:cNvSpPr/>
          <p:nvPr/>
        </p:nvSpPr>
        <p:spPr>
          <a:xfrm>
            <a:off x="11155680" y="6473952"/>
            <a:ext cx="4572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7</a:t>
            </a:r>
            <a:endParaRPr lang="en-US" sz="9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lIns="0" tIns="0" rIns="0" bIns="0" rtlCol="0" anchor="ctr"/>
          <a:lstStyle/>
          <a:p>
            <a:pPr marL="0" indent="0">
              <a:buNone/>
            </a:pPr>
            <a:r>
              <a:rPr lang="en-US" sz="1200" b="1" kern="0" spc="300" dirty="0">
                <a:solidFill>
                  <a:srgbClr val="0E7C7B"/>
                </a:solidFill>
                <a:latin typeface="Arial" pitchFamily="34" charset="0"/>
                <a:ea typeface="Arial" pitchFamily="34" charset="-122"/>
                <a:cs typeface="Arial" pitchFamily="34" charset="-120"/>
              </a:rPr>
              <a:t>LỜI GIẢI NGHỊCH LÝ</a:t>
            </a:r>
            <a:endParaRPr lang="en-US" sz="12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0D2B45"/>
                </a:solidFill>
                <a:latin typeface="Georgia" pitchFamily="34" charset="0"/>
                <a:ea typeface="Georgia" pitchFamily="34" charset="-122"/>
                <a:cs typeface="Georgia" pitchFamily="34" charset="-120"/>
              </a:rPr>
              <a:t>Augmentation không phải một khái niệm đơn nhất</a:t>
            </a:r>
            <a:endParaRPr lang="en-US" sz="3000" dirty="0"/>
          </a:p>
        </p:txBody>
      </p:sp>
      <p:sp>
        <p:nvSpPr>
          <p:cNvPr id="4" name="Text 2"/>
          <p:cNvSpPr/>
          <p:nvPr/>
        </p:nvSpPr>
        <p:spPr>
          <a:xfrm>
            <a:off x="548640" y="1600200"/>
            <a:ext cx="11064240" cy="777240"/>
          </a:xfrm>
          <a:prstGeom prst="rect">
            <a:avLst/>
          </a:prstGeom>
          <a:noFill/>
          <a:ln/>
        </p:spPr>
        <p:txBody>
          <a:bodyPr wrap="square" lIns="0" tIns="0" rIns="0" bIns="0" rtlCol="0" anchor="ctr"/>
          <a:lstStyle/>
          <a:p>
            <a:pPr marL="0" indent="0">
              <a:lnSpc>
                <a:spcPct val="110000"/>
              </a:lnSpc>
              <a:buNone/>
            </a:pPr>
            <a:r>
              <a:rPr lang="en-US" sz="1600" dirty="0">
                <a:solidFill>
                  <a:srgbClr val="1E293B"/>
                </a:solidFill>
                <a:latin typeface="Calibri" pitchFamily="34" charset="0"/>
                <a:ea typeface="Calibri" pitchFamily="34" charset="-122"/>
                <a:cs typeface="Calibri" pitchFamily="34" charset="-120"/>
              </a:rPr>
              <a:t>“Augmentation không cần thiết” của SCL chỉ đúng cho loại NGẪU NHIÊN mà CL4SRec đã thử. Một loại augmentation CÓ NGỮ NGHĨA có thể vẫn tạo ra giá trị — đây là không gian chưa được khai thác.</a:t>
            </a:r>
            <a:endParaRPr lang="en-US" sz="1600" dirty="0"/>
          </a:p>
        </p:txBody>
      </p:sp>
      <p:sp>
        <p:nvSpPr>
          <p:cNvPr id="5" name="Shape 3"/>
          <p:cNvSpPr/>
          <p:nvPr/>
        </p:nvSpPr>
        <p:spPr>
          <a:xfrm>
            <a:off x="548640" y="2606040"/>
            <a:ext cx="5440680" cy="2743200"/>
          </a:xfrm>
          <a:prstGeom prst="roundRect">
            <a:avLst>
              <a:gd name="adj" fmla="val 3333"/>
            </a:avLst>
          </a:prstGeom>
          <a:solidFill>
            <a:srgbClr val="FFF1F0"/>
          </a:solidFill>
          <a:ln w="19050">
            <a:solidFill>
              <a:srgbClr val="EF4444"/>
            </a:solidFill>
            <a:prstDash val="solid"/>
          </a:ln>
          <a:effectLst>
            <a:outerShdw blurRad="88900" dist="38100" dir="8100000" algn="bl" rotWithShape="0">
              <a:srgbClr val="000000">
                <a:alpha val="16000"/>
              </a:srgbClr>
            </a:outerShdw>
          </a:effectLst>
        </p:spPr>
      </p:sp>
      <p:pic>
        <p:nvPicPr>
          <p:cNvPr id="6" name="Image 0" descr="preencoded.png"/>
          <p:cNvPicPr>
            <a:picLocks noChangeAspect="1"/>
          </p:cNvPicPr>
          <p:nvPr/>
        </p:nvPicPr>
        <p:blipFill>
          <a:blip r:embed="rId3"/>
          <a:stretch>
            <a:fillRect/>
          </a:stretch>
        </p:blipFill>
        <p:spPr>
          <a:xfrm>
            <a:off x="868680" y="2898648"/>
            <a:ext cx="457200" cy="457200"/>
          </a:xfrm>
          <a:prstGeom prst="rect">
            <a:avLst/>
          </a:prstGeom>
        </p:spPr>
      </p:pic>
      <p:sp>
        <p:nvSpPr>
          <p:cNvPr id="7" name="Text 4"/>
          <p:cNvSpPr/>
          <p:nvPr/>
        </p:nvSpPr>
        <p:spPr>
          <a:xfrm>
            <a:off x="1463040" y="2898648"/>
            <a:ext cx="4343400" cy="457200"/>
          </a:xfrm>
          <a:prstGeom prst="rect">
            <a:avLst/>
          </a:prstGeom>
          <a:noFill/>
          <a:ln/>
        </p:spPr>
        <p:txBody>
          <a:bodyPr wrap="square" lIns="0" tIns="0" rIns="0" bIns="0" rtlCol="0" anchor="ctr"/>
          <a:lstStyle/>
          <a:p>
            <a:pPr marL="0" indent="0">
              <a:buNone/>
            </a:pPr>
            <a:r>
              <a:rPr lang="en-US" sz="1800" b="1" dirty="0">
                <a:solidFill>
                  <a:srgbClr val="B91C1C"/>
                </a:solidFill>
                <a:latin typeface="Georgia" pitchFamily="34" charset="0"/>
                <a:ea typeface="Georgia" pitchFamily="34" charset="-122"/>
                <a:cs typeface="Georgia" pitchFamily="34" charset="-120"/>
              </a:rPr>
              <a:t>Augmentation NGẪU NHIÊN</a:t>
            </a:r>
            <a:endParaRPr lang="en-US" sz="1800" dirty="0"/>
          </a:p>
        </p:txBody>
      </p:sp>
      <p:sp>
        <p:nvSpPr>
          <p:cNvPr id="8" name="Text 5"/>
          <p:cNvSpPr/>
          <p:nvPr/>
        </p:nvSpPr>
        <p:spPr>
          <a:xfrm>
            <a:off x="868680" y="3520440"/>
            <a:ext cx="4892040" cy="1691640"/>
          </a:xfrm>
          <a:prstGeom prst="rect">
            <a:avLst/>
          </a:prstGeom>
          <a:noFill/>
          <a:ln/>
        </p:spPr>
        <p:txBody>
          <a:bodyPr wrap="square" lIns="0" tIns="0" rIns="0" bIns="0" rtlCol="0" anchor="ctr"/>
          <a:lstStyle/>
          <a:p>
            <a:pPr marL="0" indent="0">
              <a:lnSpc>
                <a:spcPct val="115000"/>
              </a:lnSpc>
              <a:spcAft>
                <a:spcPts val="400"/>
              </a:spcAft>
              <a:buNone/>
            </a:pPr>
            <a:r>
              <a:rPr lang="en-US" sz="1350" b="1" dirty="0">
                <a:solidFill>
                  <a:srgbClr val="1E293B"/>
                </a:solidFill>
                <a:latin typeface="Calibri" pitchFamily="34" charset="0"/>
                <a:ea typeface="Calibri" pitchFamily="34" charset="-122"/>
                <a:cs typeface="Calibri" pitchFamily="34" charset="-120"/>
              </a:rPr>
              <a:t>crop / mask / reorder ngẫu nhiên (CL4SRec)</a:t>
            </a:r>
            <a:endParaRPr lang="en-US" sz="1350" dirty="0"/>
          </a:p>
          <a:p>
            <a:pPr marL="342900" indent="-342900">
              <a:lnSpc>
                <a:spcPct val="115000"/>
              </a:lnSpc>
              <a:spcAft>
                <a:spcPts val="400"/>
              </a:spcAft>
              <a:buSzPct val="100000"/>
              <a:buChar char="•"/>
            </a:pPr>
            <a:r>
              <a:rPr lang="en-US" sz="1350" dirty="0">
                <a:solidFill>
                  <a:srgbClr val="1E293B"/>
                </a:solidFill>
                <a:latin typeface="Calibri" pitchFamily="34" charset="0"/>
                <a:ea typeface="Calibri" pitchFamily="34" charset="-122"/>
                <a:cs typeface="Calibri" pitchFamily="34" charset="-120"/>
              </a:rPr>
              <a:t>Phá vỡ ý định phiên, đặc biệt phiên ngắn</a:t>
            </a:r>
            <a:endParaRPr lang="en-US" sz="1350" dirty="0"/>
          </a:p>
          <a:p>
            <a:pPr marL="342900" indent="-342900">
              <a:lnSpc>
                <a:spcPct val="115000"/>
              </a:lnSpc>
              <a:spcAft>
                <a:spcPts val="400"/>
              </a:spcAft>
              <a:buSzPct val="100000"/>
              <a:buChar char="•"/>
            </a:pPr>
            <a:r>
              <a:rPr lang="en-US" sz="1350" dirty="0">
                <a:solidFill>
                  <a:srgbClr val="1E293B"/>
                </a:solidFill>
                <a:latin typeface="Calibri" pitchFamily="34" charset="0"/>
                <a:ea typeface="Calibri" pitchFamily="34" charset="-122"/>
                <a:cs typeface="Calibri" pitchFamily="34" charset="-120"/>
              </a:rPr>
              <a:t>Tạo cặp giả dương (false positive pairs)</a:t>
            </a:r>
            <a:endParaRPr lang="en-US" sz="1350" dirty="0"/>
          </a:p>
          <a:p>
            <a:pPr marL="342900" indent="-342900">
              <a:lnSpc>
                <a:spcPct val="115000"/>
              </a:lnSpc>
              <a:spcAft>
                <a:spcPts val="400"/>
              </a:spcAft>
              <a:buSzPct val="100000"/>
              <a:buChar char="•"/>
            </a:pPr>
            <a:r>
              <a:rPr lang="en-US" sz="1350" dirty="0">
                <a:solidFill>
                  <a:srgbClr val="1E293B"/>
                </a:solidFill>
                <a:latin typeface="Calibri" pitchFamily="34" charset="0"/>
                <a:ea typeface="Calibri" pitchFamily="34" charset="-122"/>
                <a:cs typeface="Calibri" pitchFamily="34" charset="-120"/>
              </a:rPr>
              <a:t>Vi phạm giả định nền tảng của CL</a:t>
            </a:r>
            <a:endParaRPr lang="en-US" sz="1350" dirty="0"/>
          </a:p>
        </p:txBody>
      </p:sp>
      <p:sp>
        <p:nvSpPr>
          <p:cNvPr id="9" name="Shape 6"/>
          <p:cNvSpPr/>
          <p:nvPr/>
        </p:nvSpPr>
        <p:spPr>
          <a:xfrm>
            <a:off x="6446520" y="2606040"/>
            <a:ext cx="5440680" cy="2743200"/>
          </a:xfrm>
          <a:prstGeom prst="roundRect">
            <a:avLst>
              <a:gd name="adj" fmla="val 3333"/>
            </a:avLst>
          </a:prstGeom>
          <a:solidFill>
            <a:srgbClr val="ECFDF5"/>
          </a:solidFill>
          <a:ln w="19050">
            <a:solidFill>
              <a:srgbClr val="10B981"/>
            </a:solidFill>
            <a:prstDash val="solid"/>
          </a:ln>
          <a:effectLst>
            <a:outerShdw blurRad="88900" dist="38100" dir="8100000" algn="bl" rotWithShape="0">
              <a:srgbClr val="000000">
                <a:alpha val="16000"/>
              </a:srgbClr>
            </a:outerShdw>
          </a:effectLst>
        </p:spPr>
      </p:sp>
      <p:pic>
        <p:nvPicPr>
          <p:cNvPr id="10" name="Image 1" descr="preencoded.png"/>
          <p:cNvPicPr>
            <a:picLocks noChangeAspect="1"/>
          </p:cNvPicPr>
          <p:nvPr/>
        </p:nvPicPr>
        <p:blipFill>
          <a:blip r:embed="rId4"/>
          <a:stretch>
            <a:fillRect/>
          </a:stretch>
        </p:blipFill>
        <p:spPr>
          <a:xfrm>
            <a:off x="6766560" y="2898648"/>
            <a:ext cx="457200" cy="457200"/>
          </a:xfrm>
          <a:prstGeom prst="rect">
            <a:avLst/>
          </a:prstGeom>
        </p:spPr>
      </p:pic>
      <p:sp>
        <p:nvSpPr>
          <p:cNvPr id="11" name="Text 7"/>
          <p:cNvSpPr/>
          <p:nvPr/>
        </p:nvSpPr>
        <p:spPr>
          <a:xfrm>
            <a:off x="7360920" y="2898648"/>
            <a:ext cx="4343400" cy="457200"/>
          </a:xfrm>
          <a:prstGeom prst="rect">
            <a:avLst/>
          </a:prstGeom>
          <a:noFill/>
          <a:ln/>
        </p:spPr>
        <p:txBody>
          <a:bodyPr wrap="square" lIns="0" tIns="0" rIns="0" bIns="0" rtlCol="0" anchor="ctr"/>
          <a:lstStyle/>
          <a:p>
            <a:pPr marL="0" indent="0">
              <a:buNone/>
            </a:pPr>
            <a:r>
              <a:rPr lang="en-US" sz="1800" b="1" dirty="0">
                <a:solidFill>
                  <a:srgbClr val="047857"/>
                </a:solidFill>
                <a:latin typeface="Georgia" pitchFamily="34" charset="0"/>
                <a:ea typeface="Georgia" pitchFamily="34" charset="-122"/>
                <a:cs typeface="Georgia" pitchFamily="34" charset="-120"/>
              </a:rPr>
              <a:t>Augmentation CÓ NGỮ NGHĨA</a:t>
            </a:r>
            <a:endParaRPr lang="en-US" sz="1800" dirty="0"/>
          </a:p>
        </p:txBody>
      </p:sp>
      <p:sp>
        <p:nvSpPr>
          <p:cNvPr id="12" name="Text 8"/>
          <p:cNvSpPr/>
          <p:nvPr/>
        </p:nvSpPr>
        <p:spPr>
          <a:xfrm>
            <a:off x="6766560" y="3520440"/>
            <a:ext cx="4892040" cy="1691640"/>
          </a:xfrm>
          <a:prstGeom prst="rect">
            <a:avLst/>
          </a:prstGeom>
          <a:noFill/>
          <a:ln/>
        </p:spPr>
        <p:txBody>
          <a:bodyPr wrap="square" lIns="0" tIns="0" rIns="0" bIns="0" rtlCol="0" anchor="ctr"/>
          <a:lstStyle/>
          <a:p>
            <a:pPr marL="0" indent="0">
              <a:lnSpc>
                <a:spcPct val="115000"/>
              </a:lnSpc>
              <a:spcAft>
                <a:spcPts val="400"/>
              </a:spcAft>
              <a:buNone/>
            </a:pPr>
            <a:r>
              <a:rPr lang="en-US" sz="1350" b="1" dirty="0">
                <a:solidFill>
                  <a:srgbClr val="1E293B"/>
                </a:solidFill>
                <a:latin typeface="Calibri" pitchFamily="34" charset="0"/>
                <a:ea typeface="Calibri" pitchFamily="34" charset="-122"/>
                <a:cs typeface="Calibri" pitchFamily="34" charset="-120"/>
              </a:rPr>
              <a:t>biến đổi dựa trên cấu trúc có sẵn</a:t>
            </a:r>
            <a:endParaRPr lang="en-US" sz="1350" dirty="0"/>
          </a:p>
          <a:p>
            <a:pPr marL="342900" indent="-342900">
              <a:lnSpc>
                <a:spcPct val="115000"/>
              </a:lnSpc>
              <a:spcAft>
                <a:spcPts val="400"/>
              </a:spcAft>
              <a:buSzPct val="100000"/>
              <a:buChar char="•"/>
            </a:pPr>
            <a:r>
              <a:rPr lang="en-US" sz="1350" dirty="0">
                <a:solidFill>
                  <a:srgbClr val="1E293B"/>
                </a:solidFill>
                <a:latin typeface="Calibri" pitchFamily="34" charset="0"/>
                <a:ea typeface="Calibri" pitchFamily="34" charset="-122"/>
                <a:cs typeface="Calibri" pitchFamily="34" charset="-120"/>
              </a:rPr>
              <a:t>Bảo toàn ý định phiên ở cấp danh mục</a:t>
            </a:r>
            <a:endParaRPr lang="en-US" sz="1350" dirty="0"/>
          </a:p>
          <a:p>
            <a:pPr marL="342900" indent="-342900">
              <a:lnSpc>
                <a:spcPct val="115000"/>
              </a:lnSpc>
              <a:spcAft>
                <a:spcPts val="400"/>
              </a:spcAft>
              <a:buSzPct val="100000"/>
              <a:buChar char="•"/>
            </a:pPr>
            <a:r>
              <a:rPr lang="en-US" sz="1350" dirty="0">
                <a:solidFill>
                  <a:srgbClr val="1E293B"/>
                </a:solidFill>
                <a:latin typeface="Calibri" pitchFamily="34" charset="0"/>
                <a:ea typeface="Calibri" pitchFamily="34" charset="-122"/>
                <a:cs typeface="Calibri" pitchFamily="34" charset="-120"/>
              </a:rPr>
              <a:t>Tạo cặp dương thực sự (true positive pairs)</a:t>
            </a:r>
            <a:endParaRPr lang="en-US" sz="1350" dirty="0"/>
          </a:p>
          <a:p>
            <a:pPr marL="342900" indent="-342900">
              <a:lnSpc>
                <a:spcPct val="115000"/>
              </a:lnSpc>
              <a:spcAft>
                <a:spcPts val="400"/>
              </a:spcAft>
              <a:buSzPct val="100000"/>
              <a:buChar char="•"/>
            </a:pPr>
            <a:r>
              <a:rPr lang="en-US" sz="1350" dirty="0">
                <a:solidFill>
                  <a:srgbClr val="1E293B"/>
                </a:solidFill>
                <a:latin typeface="Calibri" pitchFamily="34" charset="0"/>
                <a:ea typeface="Calibri" pitchFamily="34" charset="-122"/>
                <a:cs typeface="Calibri" pitchFamily="34" charset="-120"/>
              </a:rPr>
              <a:t>Chưa được khai thác hệ thống cho SBR</a:t>
            </a:r>
            <a:endParaRPr lang="en-US" sz="1350" dirty="0"/>
          </a:p>
        </p:txBody>
      </p:sp>
      <p:sp>
        <p:nvSpPr>
          <p:cNvPr id="13" name="Text 9"/>
          <p:cNvSpPr/>
          <p:nvPr/>
        </p:nvSpPr>
        <p:spPr>
          <a:xfrm>
            <a:off x="548640" y="5532120"/>
            <a:ext cx="10972800" cy="365760"/>
          </a:xfrm>
          <a:prstGeom prst="rect">
            <a:avLst/>
          </a:prstGeom>
          <a:noFill/>
          <a:ln/>
        </p:spPr>
        <p:txBody>
          <a:bodyPr wrap="square" lIns="0" tIns="0" rIns="0" bIns="0" rtlCol="0" anchor="ctr"/>
          <a:lstStyle/>
          <a:p>
            <a:pPr marL="0" indent="0" algn="ctr">
              <a:buNone/>
            </a:pPr>
            <a:r>
              <a:rPr lang="en-US" sz="1600" b="1" dirty="0">
                <a:solidFill>
                  <a:srgbClr val="0E7C7B"/>
                </a:solidFill>
                <a:latin typeface="Calibri" pitchFamily="34" charset="0"/>
                <a:ea typeface="Calibri" pitchFamily="34" charset="-122"/>
                <a:cs typeface="Calibri" pitchFamily="34" charset="-120"/>
              </a:rPr>
              <a:t>Câu hỏi: </a:t>
            </a:r>
            <a:r>
              <a:rPr lang="en-US" sz="1600" b="1" dirty="0">
                <a:solidFill>
                  <a:srgbClr val="0D2B45"/>
                </a:solidFill>
                <a:latin typeface="Calibri" pitchFamily="34" charset="0"/>
                <a:ea typeface="Calibri" pitchFamily="34" charset="-122"/>
                <a:cs typeface="Calibri" pitchFamily="34" charset="-120"/>
              </a:rPr>
              <a:t>nguồn cấu trúc nào có sẵn để tạo augmentation có ngữ nghĩa?</a:t>
            </a:r>
            <a:endParaRPr lang="en-US" sz="1600" dirty="0"/>
          </a:p>
        </p:txBody>
      </p:sp>
      <p:sp>
        <p:nvSpPr>
          <p:cNvPr id="14" name="Text 10"/>
          <p:cNvSpPr/>
          <p:nvPr/>
        </p:nvSpPr>
        <p:spPr>
          <a:xfrm>
            <a:off x="548640" y="6473952"/>
            <a:ext cx="54864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CatSA · Background &amp; Motivation</a:t>
            </a:r>
            <a:endParaRPr lang="en-US" sz="900" dirty="0"/>
          </a:p>
        </p:txBody>
      </p:sp>
      <p:sp>
        <p:nvSpPr>
          <p:cNvPr id="15" name="Text 11"/>
          <p:cNvSpPr/>
          <p:nvPr/>
        </p:nvSpPr>
        <p:spPr>
          <a:xfrm>
            <a:off x="11155680" y="6473952"/>
            <a:ext cx="4572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8</a:t>
            </a:r>
            <a:endParaRPr lang="en-US" sz="9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lIns="0" tIns="0" rIns="0" bIns="0" rtlCol="0" anchor="ctr"/>
          <a:lstStyle/>
          <a:p>
            <a:pPr marL="0" indent="0">
              <a:buNone/>
            </a:pPr>
            <a:r>
              <a:rPr lang="en-US" sz="1200" b="1" kern="0" spc="300" dirty="0">
                <a:solidFill>
                  <a:srgbClr val="0E7C7B"/>
                </a:solidFill>
                <a:latin typeface="Arial" pitchFamily="34" charset="0"/>
                <a:ea typeface="Arial" pitchFamily="34" charset="-122"/>
                <a:cs typeface="Arial" pitchFamily="34" charset="-120"/>
              </a:rPr>
              <a:t>HƯỚNG PHÁT TRIỂN 3 · TIER 3 BASELINES</a:t>
            </a:r>
            <a:endParaRPr lang="en-US" sz="12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0D2B45"/>
                </a:solidFill>
                <a:latin typeface="Georgia" pitchFamily="34" charset="0"/>
                <a:ea typeface="Georgia" pitchFamily="34" charset="-122"/>
                <a:cs typeface="Georgia" pitchFamily="34" charset="-120"/>
              </a:rPr>
              <a:t>Cấu trúc danh mục: nguồn tài nguyên bị bỏ quên</a:t>
            </a:r>
            <a:endParaRPr lang="en-US" sz="3000" dirty="0"/>
          </a:p>
        </p:txBody>
      </p:sp>
      <p:sp>
        <p:nvSpPr>
          <p:cNvPr id="4" name="Shape 2"/>
          <p:cNvSpPr/>
          <p:nvPr/>
        </p:nvSpPr>
        <p:spPr>
          <a:xfrm>
            <a:off x="10744200" y="457200"/>
            <a:ext cx="868680" cy="384048"/>
          </a:xfrm>
          <a:prstGeom prst="roundRect">
            <a:avLst>
              <a:gd name="adj" fmla="val 19048"/>
            </a:avLst>
          </a:prstGeom>
          <a:solidFill>
            <a:srgbClr val="0E7C7B"/>
          </a:solidFill>
          <a:ln/>
        </p:spPr>
      </p:sp>
      <p:sp>
        <p:nvSpPr>
          <p:cNvPr id="5" name="Text 3"/>
          <p:cNvSpPr/>
          <p:nvPr/>
        </p:nvSpPr>
        <p:spPr>
          <a:xfrm>
            <a:off x="10744200" y="457200"/>
            <a:ext cx="86868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TIER 3</a:t>
            </a:r>
            <a:endParaRPr lang="en-US" sz="1300" dirty="0"/>
          </a:p>
        </p:txBody>
      </p:sp>
      <p:sp>
        <p:nvSpPr>
          <p:cNvPr id="6" name="Text 4"/>
          <p:cNvSpPr/>
          <p:nvPr/>
        </p:nvSpPr>
        <p:spPr>
          <a:xfrm>
            <a:off x="548640" y="1572768"/>
            <a:ext cx="5852160" cy="1097280"/>
          </a:xfrm>
          <a:prstGeom prst="rect">
            <a:avLst/>
          </a:prstGeom>
          <a:noFill/>
          <a:ln/>
        </p:spPr>
        <p:txBody>
          <a:bodyPr wrap="square" lIns="0" tIns="0" rIns="0" bIns="0" rtlCol="0" anchor="ctr"/>
          <a:lstStyle/>
          <a:p>
            <a:pPr marL="0" indent="0">
              <a:lnSpc>
                <a:spcPct val="112000"/>
              </a:lnSpc>
              <a:buNone/>
            </a:pPr>
            <a:r>
              <a:rPr lang="en-US" sz="1500" dirty="0">
                <a:solidFill>
                  <a:srgbClr val="1E293B"/>
                </a:solidFill>
                <a:latin typeface="Calibri" pitchFamily="34" charset="0"/>
                <a:ea typeface="Calibri" pitchFamily="34" charset="-122"/>
                <a:cs typeface="Calibri" pitchFamily="34" charset="-120"/>
              </a:rPr>
              <a:t>Mọi sàn thương mại đều gán nhãn danh mục cho sản phẩm — metadata sạch, có sẵn, miễn phí. Một số dataset (RetailRocket) còn có cây taxonomy phân cấp đầy đủ.</a:t>
            </a:r>
            <a:endParaRPr lang="en-US" sz="1500" dirty="0"/>
          </a:p>
        </p:txBody>
      </p:sp>
      <p:sp>
        <p:nvSpPr>
          <p:cNvPr id="7" name="Shape 5"/>
          <p:cNvSpPr/>
          <p:nvPr/>
        </p:nvSpPr>
        <p:spPr>
          <a:xfrm>
            <a:off x="6766560" y="1691640"/>
            <a:ext cx="4846320" cy="1828800"/>
          </a:xfrm>
          <a:prstGeom prst="roundRect">
            <a:avLst>
              <a:gd name="adj" fmla="val 4000"/>
            </a:avLst>
          </a:prstGeom>
          <a:solidFill>
            <a:srgbClr val="F1F5F9"/>
          </a:solidFill>
          <a:ln w="12700">
            <a:solidFill>
              <a:srgbClr val="CBD5E1"/>
            </a:solidFill>
            <a:prstDash val="solid"/>
          </a:ln>
        </p:spPr>
      </p:sp>
      <p:sp>
        <p:nvSpPr>
          <p:cNvPr id="8" name="Shape 6"/>
          <p:cNvSpPr/>
          <p:nvPr/>
        </p:nvSpPr>
        <p:spPr>
          <a:xfrm>
            <a:off x="8458200" y="1874520"/>
            <a:ext cx="1463040" cy="457200"/>
          </a:xfrm>
          <a:prstGeom prst="roundRect">
            <a:avLst>
              <a:gd name="adj" fmla="val 12000"/>
            </a:avLst>
          </a:prstGeom>
          <a:solidFill>
            <a:srgbClr val="0D2B45"/>
          </a:solidFill>
          <a:ln/>
        </p:spPr>
      </p:sp>
      <p:sp>
        <p:nvSpPr>
          <p:cNvPr id="9" name="Text 7"/>
          <p:cNvSpPr/>
          <p:nvPr/>
        </p:nvSpPr>
        <p:spPr>
          <a:xfrm>
            <a:off x="8458200" y="1874520"/>
            <a:ext cx="146304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ĐT &amp; Phụ kiện</a:t>
            </a:r>
            <a:endParaRPr lang="en-US" sz="1100" dirty="0"/>
          </a:p>
        </p:txBody>
      </p:sp>
      <p:sp>
        <p:nvSpPr>
          <p:cNvPr id="10" name="Shape 8"/>
          <p:cNvSpPr/>
          <p:nvPr/>
        </p:nvSpPr>
        <p:spPr>
          <a:xfrm>
            <a:off x="7086600" y="2834640"/>
            <a:ext cx="1325880" cy="411480"/>
          </a:xfrm>
          <a:prstGeom prst="roundRect">
            <a:avLst>
              <a:gd name="adj" fmla="val 13333"/>
            </a:avLst>
          </a:prstGeom>
          <a:solidFill>
            <a:srgbClr val="0E7C7B"/>
          </a:solidFill>
          <a:ln/>
        </p:spPr>
      </p:sp>
      <p:sp>
        <p:nvSpPr>
          <p:cNvPr id="11" name="Text 9"/>
          <p:cNvSpPr/>
          <p:nvPr/>
        </p:nvSpPr>
        <p:spPr>
          <a:xfrm>
            <a:off x="7086600" y="2834640"/>
            <a:ext cx="1325880" cy="41148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Điện thoại</a:t>
            </a:r>
            <a:endParaRPr lang="en-US" sz="1050" dirty="0"/>
          </a:p>
        </p:txBody>
      </p:sp>
      <p:sp>
        <p:nvSpPr>
          <p:cNvPr id="12" name="Shape 10"/>
          <p:cNvSpPr/>
          <p:nvPr/>
        </p:nvSpPr>
        <p:spPr>
          <a:xfrm>
            <a:off x="9189720" y="2350008"/>
            <a:ext cx="0" cy="457200"/>
          </a:xfrm>
          <a:prstGeom prst="line">
            <a:avLst/>
          </a:prstGeom>
          <a:noFill/>
          <a:ln w="15240">
            <a:solidFill>
              <a:srgbClr val="64748B"/>
            </a:solidFill>
            <a:prstDash val="solid"/>
          </a:ln>
        </p:spPr>
      </p:sp>
      <p:sp>
        <p:nvSpPr>
          <p:cNvPr id="13" name="Shape 11"/>
          <p:cNvSpPr/>
          <p:nvPr/>
        </p:nvSpPr>
        <p:spPr>
          <a:xfrm>
            <a:off x="8567928" y="2834640"/>
            <a:ext cx="1325880" cy="411480"/>
          </a:xfrm>
          <a:prstGeom prst="roundRect">
            <a:avLst>
              <a:gd name="adj" fmla="val 13333"/>
            </a:avLst>
          </a:prstGeom>
          <a:solidFill>
            <a:srgbClr val="0E7C7B"/>
          </a:solidFill>
          <a:ln/>
        </p:spPr>
      </p:sp>
      <p:sp>
        <p:nvSpPr>
          <p:cNvPr id="14" name="Text 12"/>
          <p:cNvSpPr/>
          <p:nvPr/>
        </p:nvSpPr>
        <p:spPr>
          <a:xfrm>
            <a:off x="8567928" y="2834640"/>
            <a:ext cx="1325880" cy="41148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Ốp lưng</a:t>
            </a:r>
            <a:endParaRPr lang="en-US" sz="1050" dirty="0"/>
          </a:p>
        </p:txBody>
      </p:sp>
      <p:sp>
        <p:nvSpPr>
          <p:cNvPr id="15" name="Shape 13"/>
          <p:cNvSpPr/>
          <p:nvPr/>
        </p:nvSpPr>
        <p:spPr>
          <a:xfrm flipH="1">
            <a:off x="7750734" y="2360348"/>
            <a:ext cx="1421891" cy="456004"/>
          </a:xfrm>
          <a:prstGeom prst="line">
            <a:avLst/>
          </a:prstGeom>
          <a:noFill/>
          <a:ln w="15240">
            <a:solidFill>
              <a:srgbClr val="64748B"/>
            </a:solidFill>
            <a:prstDash val="solid"/>
          </a:ln>
        </p:spPr>
      </p:sp>
      <p:sp>
        <p:nvSpPr>
          <p:cNvPr id="16" name="Shape 14"/>
          <p:cNvSpPr/>
          <p:nvPr/>
        </p:nvSpPr>
        <p:spPr>
          <a:xfrm>
            <a:off x="10049256" y="2834640"/>
            <a:ext cx="1325880" cy="411480"/>
          </a:xfrm>
          <a:prstGeom prst="roundRect">
            <a:avLst>
              <a:gd name="adj" fmla="val 13333"/>
            </a:avLst>
          </a:prstGeom>
          <a:solidFill>
            <a:srgbClr val="0E7C7B"/>
          </a:solidFill>
          <a:ln/>
        </p:spPr>
      </p:sp>
      <p:sp>
        <p:nvSpPr>
          <p:cNvPr id="17" name="Text 15"/>
          <p:cNvSpPr/>
          <p:nvPr/>
        </p:nvSpPr>
        <p:spPr>
          <a:xfrm>
            <a:off x="10049256" y="2834640"/>
            <a:ext cx="1325880" cy="41148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Tai nghe</a:t>
            </a:r>
            <a:endParaRPr lang="en-US" sz="1050" dirty="0"/>
          </a:p>
        </p:txBody>
      </p:sp>
      <p:sp>
        <p:nvSpPr>
          <p:cNvPr id="18" name="Shape 16"/>
          <p:cNvSpPr/>
          <p:nvPr/>
        </p:nvSpPr>
        <p:spPr>
          <a:xfrm>
            <a:off x="9189720" y="2350008"/>
            <a:ext cx="1517904" cy="457200"/>
          </a:xfrm>
          <a:prstGeom prst="line">
            <a:avLst/>
          </a:prstGeom>
          <a:noFill/>
          <a:ln w="15240">
            <a:solidFill>
              <a:srgbClr val="64748B"/>
            </a:solidFill>
            <a:prstDash val="solid"/>
          </a:ln>
        </p:spPr>
      </p:sp>
      <p:sp>
        <p:nvSpPr>
          <p:cNvPr id="19" name="Text 17"/>
          <p:cNvSpPr/>
          <p:nvPr/>
        </p:nvSpPr>
        <p:spPr>
          <a:xfrm>
            <a:off x="6766560" y="3291840"/>
            <a:ext cx="4846320" cy="228600"/>
          </a:xfrm>
          <a:prstGeom prst="rect">
            <a:avLst/>
          </a:prstGeom>
          <a:noFill/>
          <a:ln/>
        </p:spPr>
        <p:txBody>
          <a:bodyPr wrap="square" lIns="0" tIns="0" rIns="0" bIns="0" rtlCol="0" anchor="ctr"/>
          <a:lstStyle/>
          <a:p>
            <a:pPr marL="0" indent="0" algn="ctr">
              <a:buNone/>
            </a:pPr>
            <a:r>
              <a:rPr lang="en-US" sz="950" i="1" dirty="0">
                <a:solidFill>
                  <a:srgbClr val="64748B"/>
                </a:solidFill>
                <a:latin typeface="Calibri" pitchFamily="34" charset="0"/>
                <a:ea typeface="Calibri" pitchFamily="34" charset="-122"/>
                <a:cs typeface="Calibri" pitchFamily="34" charset="-120"/>
              </a:rPr>
              <a:t>siblings — liên quan ngữ nghĩa</a:t>
            </a:r>
            <a:endParaRPr lang="en-US" sz="950" dirty="0"/>
          </a:p>
        </p:txBody>
      </p:sp>
      <p:sp>
        <p:nvSpPr>
          <p:cNvPr id="20" name="Shape 18"/>
          <p:cNvSpPr/>
          <p:nvPr/>
        </p:nvSpPr>
        <p:spPr>
          <a:xfrm>
            <a:off x="548640" y="3794760"/>
            <a:ext cx="5440680" cy="1417320"/>
          </a:xfrm>
          <a:prstGeom prst="roundRect">
            <a:avLst>
              <a:gd name="adj" fmla="val 5161"/>
            </a:avLst>
          </a:prstGeom>
          <a:solidFill>
            <a:srgbClr val="FFFFFF"/>
          </a:solidFill>
          <a:ln w="12700">
            <a:solidFill>
              <a:srgbClr val="CBD5E1"/>
            </a:solidFill>
            <a:prstDash val="solid"/>
          </a:ln>
          <a:effectLst>
            <a:outerShdw blurRad="88900" dist="38100" dir="8100000" algn="bl" rotWithShape="0">
              <a:srgbClr val="000000">
                <a:alpha val="16000"/>
              </a:srgbClr>
            </a:outerShdw>
          </a:effectLst>
        </p:spPr>
      </p:sp>
      <p:sp>
        <p:nvSpPr>
          <p:cNvPr id="21" name="Shape 19"/>
          <p:cNvSpPr/>
          <p:nvPr/>
        </p:nvSpPr>
        <p:spPr>
          <a:xfrm>
            <a:off x="804672" y="4206240"/>
            <a:ext cx="566928" cy="566928"/>
          </a:xfrm>
          <a:prstGeom prst="ellipse">
            <a:avLst/>
          </a:prstGeom>
          <a:solidFill>
            <a:srgbClr val="0D2B45"/>
          </a:solidFill>
          <a:ln/>
        </p:spPr>
      </p:sp>
      <p:pic>
        <p:nvPicPr>
          <p:cNvPr id="22" name="Image 0" descr="preencoded.png"/>
          <p:cNvPicPr>
            <a:picLocks noChangeAspect="1"/>
          </p:cNvPicPr>
          <p:nvPr/>
        </p:nvPicPr>
        <p:blipFill>
          <a:blip r:embed="rId3"/>
          <a:stretch>
            <a:fillRect/>
          </a:stretch>
        </p:blipFill>
        <p:spPr>
          <a:xfrm>
            <a:off x="914400" y="4315968"/>
            <a:ext cx="347472" cy="347472"/>
          </a:xfrm>
          <a:prstGeom prst="rect">
            <a:avLst/>
          </a:prstGeom>
        </p:spPr>
      </p:pic>
      <p:sp>
        <p:nvSpPr>
          <p:cNvPr id="23" name="Text 20"/>
          <p:cNvSpPr/>
          <p:nvPr/>
        </p:nvSpPr>
        <p:spPr>
          <a:xfrm>
            <a:off x="1508760" y="3995928"/>
            <a:ext cx="4343400" cy="411480"/>
          </a:xfrm>
          <a:prstGeom prst="rect">
            <a:avLst/>
          </a:prstGeom>
          <a:noFill/>
          <a:ln/>
        </p:spPr>
        <p:txBody>
          <a:bodyPr wrap="square" lIns="0" tIns="0" rIns="0" bIns="0" rtlCol="0" anchor="ctr"/>
          <a:lstStyle/>
          <a:p>
            <a:pPr marL="0" indent="0">
              <a:buNone/>
            </a:pPr>
            <a:r>
              <a:rPr lang="en-US" sz="1800" b="1" dirty="0">
                <a:solidFill>
                  <a:srgbClr val="0D2B45"/>
                </a:solidFill>
                <a:latin typeface="Georgia" pitchFamily="34" charset="0"/>
                <a:ea typeface="Georgia" pitchFamily="34" charset="-122"/>
                <a:cs typeface="Georgia" pitchFamily="34" charset="-120"/>
              </a:rPr>
              <a:t>Cat-GNN</a:t>
            </a:r>
            <a:endParaRPr lang="en-US" sz="1800" dirty="0"/>
          </a:p>
        </p:txBody>
      </p:sp>
      <p:sp>
        <p:nvSpPr>
          <p:cNvPr id="24" name="Text 21"/>
          <p:cNvSpPr/>
          <p:nvPr/>
        </p:nvSpPr>
        <p:spPr>
          <a:xfrm>
            <a:off x="1508760" y="4361688"/>
            <a:ext cx="4343400" cy="274320"/>
          </a:xfrm>
          <a:prstGeom prst="rect">
            <a:avLst/>
          </a:prstGeom>
          <a:noFill/>
          <a:ln/>
        </p:spPr>
        <p:txBody>
          <a:bodyPr wrap="square" lIns="0" tIns="0" rIns="0" bIns="0" rtlCol="0" anchor="ctr"/>
          <a:lstStyle/>
          <a:p>
            <a:pPr marL="0" indent="0">
              <a:buNone/>
            </a:pPr>
            <a:r>
              <a:rPr lang="en-US" sz="1050" i="1" dirty="0">
                <a:solidFill>
                  <a:srgbClr val="0E7C7B"/>
                </a:solidFill>
                <a:latin typeface="Calibri" pitchFamily="34" charset="0"/>
                <a:ea typeface="Calibri" pitchFamily="34" charset="-122"/>
                <a:cs typeface="Calibri" pitchFamily="34" charset="-120"/>
              </a:rPr>
              <a:t>Zhang et al., ESWA 2024</a:t>
            </a:r>
            <a:endParaRPr lang="en-US" sz="1050" dirty="0"/>
          </a:p>
        </p:txBody>
      </p:sp>
      <p:sp>
        <p:nvSpPr>
          <p:cNvPr id="25" name="Text 22"/>
          <p:cNvSpPr/>
          <p:nvPr/>
        </p:nvSpPr>
        <p:spPr>
          <a:xfrm>
            <a:off x="1508760" y="4636008"/>
            <a:ext cx="4297680" cy="502920"/>
          </a:xfrm>
          <a:prstGeom prst="rect">
            <a:avLst/>
          </a:prstGeom>
          <a:noFill/>
          <a:ln/>
        </p:spPr>
        <p:txBody>
          <a:bodyPr wrap="square" lIns="0" tIns="0" rIns="0" bIns="0" rtlCol="0" anchor="ctr"/>
          <a:lstStyle/>
          <a:p>
            <a:pPr marL="0" indent="0">
              <a:lnSpc>
                <a:spcPct val="100000"/>
              </a:lnSpc>
              <a:buNone/>
            </a:pPr>
            <a:r>
              <a:rPr lang="en-US" sz="1150" dirty="0">
                <a:solidFill>
                  <a:srgbClr val="1E293B"/>
                </a:solidFill>
                <a:latin typeface="Calibri" pitchFamily="34" charset="0"/>
                <a:ea typeface="Calibri" pitchFamily="34" charset="-122"/>
                <a:cs typeface="Calibri" pitchFamily="34" charset="-120"/>
              </a:rPr>
              <a:t>Tích hợp category vào kiến trúc graph: thêm category nodes vào session graph.</a:t>
            </a:r>
            <a:endParaRPr lang="en-US" sz="1150" dirty="0"/>
          </a:p>
        </p:txBody>
      </p:sp>
      <p:sp>
        <p:nvSpPr>
          <p:cNvPr id="26" name="Shape 23"/>
          <p:cNvSpPr/>
          <p:nvPr/>
        </p:nvSpPr>
        <p:spPr>
          <a:xfrm>
            <a:off x="6446520" y="3794760"/>
            <a:ext cx="5440680" cy="1417320"/>
          </a:xfrm>
          <a:prstGeom prst="roundRect">
            <a:avLst>
              <a:gd name="adj" fmla="val 5161"/>
            </a:avLst>
          </a:prstGeom>
          <a:solidFill>
            <a:srgbClr val="FFFFFF"/>
          </a:solidFill>
          <a:ln w="12700">
            <a:solidFill>
              <a:srgbClr val="CBD5E1"/>
            </a:solidFill>
            <a:prstDash val="solid"/>
          </a:ln>
          <a:effectLst>
            <a:outerShdw blurRad="88900" dist="38100" dir="8100000" algn="bl" rotWithShape="0">
              <a:srgbClr val="000000">
                <a:alpha val="16000"/>
              </a:srgbClr>
            </a:outerShdw>
          </a:effectLst>
        </p:spPr>
      </p:sp>
      <p:sp>
        <p:nvSpPr>
          <p:cNvPr id="27" name="Shape 24"/>
          <p:cNvSpPr/>
          <p:nvPr/>
        </p:nvSpPr>
        <p:spPr>
          <a:xfrm>
            <a:off x="6702552" y="4206240"/>
            <a:ext cx="566928" cy="566928"/>
          </a:xfrm>
          <a:prstGeom prst="ellipse">
            <a:avLst/>
          </a:prstGeom>
          <a:solidFill>
            <a:srgbClr val="0D2B45"/>
          </a:solidFill>
          <a:ln/>
        </p:spPr>
      </p:sp>
      <p:pic>
        <p:nvPicPr>
          <p:cNvPr id="28" name="Image 1" descr="preencoded.png"/>
          <p:cNvPicPr>
            <a:picLocks noChangeAspect="1"/>
          </p:cNvPicPr>
          <p:nvPr/>
        </p:nvPicPr>
        <p:blipFill>
          <a:blip r:embed="rId3"/>
          <a:stretch>
            <a:fillRect/>
          </a:stretch>
        </p:blipFill>
        <p:spPr>
          <a:xfrm>
            <a:off x="6812280" y="4315968"/>
            <a:ext cx="347472" cy="347472"/>
          </a:xfrm>
          <a:prstGeom prst="rect">
            <a:avLst/>
          </a:prstGeom>
        </p:spPr>
      </p:pic>
      <p:sp>
        <p:nvSpPr>
          <p:cNvPr id="29" name="Text 25"/>
          <p:cNvSpPr/>
          <p:nvPr/>
        </p:nvSpPr>
        <p:spPr>
          <a:xfrm>
            <a:off x="7406640" y="3995928"/>
            <a:ext cx="4343400" cy="411480"/>
          </a:xfrm>
          <a:prstGeom prst="rect">
            <a:avLst/>
          </a:prstGeom>
          <a:noFill/>
          <a:ln/>
        </p:spPr>
        <p:txBody>
          <a:bodyPr wrap="square" lIns="0" tIns="0" rIns="0" bIns="0" rtlCol="0" anchor="ctr"/>
          <a:lstStyle/>
          <a:p>
            <a:pPr marL="0" indent="0">
              <a:buNone/>
            </a:pPr>
            <a:r>
              <a:rPr lang="en-US" sz="1800" b="1" dirty="0">
                <a:solidFill>
                  <a:srgbClr val="0D2B45"/>
                </a:solidFill>
                <a:latin typeface="Georgia" pitchFamily="34" charset="0"/>
                <a:ea typeface="Georgia" pitchFamily="34" charset="-122"/>
                <a:cs typeface="Georgia" pitchFamily="34" charset="-120"/>
              </a:rPr>
              <a:t>HGCAN</a:t>
            </a:r>
            <a:endParaRPr lang="en-US" sz="1800" dirty="0"/>
          </a:p>
        </p:txBody>
      </p:sp>
      <p:sp>
        <p:nvSpPr>
          <p:cNvPr id="30" name="Text 26"/>
          <p:cNvSpPr/>
          <p:nvPr/>
        </p:nvSpPr>
        <p:spPr>
          <a:xfrm>
            <a:off x="7406640" y="4361688"/>
            <a:ext cx="4343400" cy="274320"/>
          </a:xfrm>
          <a:prstGeom prst="rect">
            <a:avLst/>
          </a:prstGeom>
          <a:noFill/>
          <a:ln/>
        </p:spPr>
        <p:txBody>
          <a:bodyPr wrap="square" lIns="0" tIns="0" rIns="0" bIns="0" rtlCol="0" anchor="ctr"/>
          <a:lstStyle/>
          <a:p>
            <a:pPr marL="0" indent="0">
              <a:buNone/>
            </a:pPr>
            <a:r>
              <a:rPr lang="en-US" sz="1050" i="1" dirty="0">
                <a:solidFill>
                  <a:srgbClr val="0E7C7B"/>
                </a:solidFill>
                <a:latin typeface="Calibri" pitchFamily="34" charset="0"/>
                <a:ea typeface="Calibri" pitchFamily="34" charset="-122"/>
                <a:cs typeface="Calibri" pitchFamily="34" charset="-120"/>
              </a:rPr>
              <a:t>Yang et al., ESWA 2024</a:t>
            </a:r>
            <a:endParaRPr lang="en-US" sz="1050" dirty="0"/>
          </a:p>
        </p:txBody>
      </p:sp>
      <p:sp>
        <p:nvSpPr>
          <p:cNvPr id="31" name="Text 27"/>
          <p:cNvSpPr/>
          <p:nvPr/>
        </p:nvSpPr>
        <p:spPr>
          <a:xfrm>
            <a:off x="7406640" y="4636008"/>
            <a:ext cx="4297680" cy="502920"/>
          </a:xfrm>
          <a:prstGeom prst="rect">
            <a:avLst/>
          </a:prstGeom>
          <a:noFill/>
          <a:ln/>
        </p:spPr>
        <p:txBody>
          <a:bodyPr wrap="square" lIns="0" tIns="0" rIns="0" bIns="0" rtlCol="0" anchor="ctr"/>
          <a:lstStyle/>
          <a:p>
            <a:pPr marL="0" indent="0">
              <a:lnSpc>
                <a:spcPct val="100000"/>
              </a:lnSpc>
              <a:buNone/>
            </a:pPr>
            <a:r>
              <a:rPr lang="en-US" sz="1150" dirty="0">
                <a:solidFill>
                  <a:srgbClr val="1E293B"/>
                </a:solidFill>
                <a:latin typeface="Calibri" pitchFamily="34" charset="0"/>
                <a:ea typeface="Calibri" pitchFamily="34" charset="-122"/>
                <a:cs typeface="Calibri" pitchFamily="34" charset="-120"/>
              </a:rPr>
              <a:t>Hierarchical category-aware graph attention — khai thác cấu trúc cây taxonomy.</a:t>
            </a:r>
            <a:endParaRPr lang="en-US" sz="1150" dirty="0"/>
          </a:p>
        </p:txBody>
      </p:sp>
      <p:sp>
        <p:nvSpPr>
          <p:cNvPr id="32" name="Text 28"/>
          <p:cNvSpPr/>
          <p:nvPr/>
        </p:nvSpPr>
        <p:spPr>
          <a:xfrm>
            <a:off x="548640" y="5413248"/>
            <a:ext cx="11064240" cy="365760"/>
          </a:xfrm>
          <a:prstGeom prst="rect">
            <a:avLst/>
          </a:prstGeom>
          <a:noFill/>
          <a:ln/>
        </p:spPr>
        <p:txBody>
          <a:bodyPr wrap="square" lIns="0" tIns="0" rIns="0" bIns="0" rtlCol="0" anchor="ctr"/>
          <a:lstStyle/>
          <a:p>
            <a:pPr marL="0" indent="0">
              <a:buNone/>
            </a:pPr>
            <a:r>
              <a:rPr lang="en-US" sz="1400" b="1" dirty="0">
                <a:solidFill>
                  <a:srgbClr val="F4A261"/>
                </a:solidFill>
                <a:latin typeface="Calibri" pitchFamily="34" charset="0"/>
                <a:ea typeface="Calibri" pitchFamily="34" charset="-122"/>
                <a:cs typeface="Calibri" pitchFamily="34" charset="-120"/>
              </a:rPr>
              <a:t>Điểm then chốt:  </a:t>
            </a:r>
            <a:r>
              <a:rPr lang="en-US" sz="1400" dirty="0">
                <a:solidFill>
                  <a:srgbClr val="1E293B"/>
                </a:solidFill>
                <a:latin typeface="Calibri" pitchFamily="34" charset="0"/>
                <a:ea typeface="Calibri" pitchFamily="34" charset="-122"/>
                <a:cs typeface="Calibri" pitchFamily="34" charset="-120"/>
              </a:rPr>
              <a:t>cả hai chỉ dùng category trong GRAPH — không dùng category để hướng dẫn AUGMENTATION.</a:t>
            </a:r>
            <a:endParaRPr lang="en-US" sz="1400" dirty="0"/>
          </a:p>
        </p:txBody>
      </p:sp>
      <p:sp>
        <p:nvSpPr>
          <p:cNvPr id="33" name="Text 29"/>
          <p:cNvSpPr/>
          <p:nvPr/>
        </p:nvSpPr>
        <p:spPr>
          <a:xfrm>
            <a:off x="548640" y="6473952"/>
            <a:ext cx="54864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CatSA · Background &amp; Motivation</a:t>
            </a:r>
            <a:endParaRPr lang="en-US" sz="900" dirty="0"/>
          </a:p>
        </p:txBody>
      </p:sp>
      <p:sp>
        <p:nvSpPr>
          <p:cNvPr id="34" name="Text 30"/>
          <p:cNvSpPr/>
          <p:nvPr/>
        </p:nvSpPr>
        <p:spPr>
          <a:xfrm>
            <a:off x="11155680" y="6473952"/>
            <a:ext cx="4572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9</a:t>
            </a:r>
            <a:endParaRPr lang="en-US" sz="9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lIns="0" tIns="0" rIns="0" bIns="0" rtlCol="0" anchor="ctr"/>
          <a:lstStyle/>
          <a:p>
            <a:pPr marL="0" indent="0">
              <a:buNone/>
            </a:pPr>
            <a:r>
              <a:rPr lang="en-US" sz="1200" b="1" kern="0" spc="300" dirty="0">
                <a:solidFill>
                  <a:srgbClr val="0E7C7B"/>
                </a:solidFill>
                <a:latin typeface="Arial" pitchFamily="34" charset="0"/>
                <a:ea typeface="Arial" pitchFamily="34" charset="-122"/>
                <a:cs typeface="Arial" pitchFamily="34" charset="-120"/>
              </a:rPr>
              <a:t>TỔNG HỢP BA HƯỚNG</a:t>
            </a:r>
            <a:endParaRPr lang="en-US" sz="12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0D2B45"/>
                </a:solidFill>
                <a:latin typeface="Georgia" pitchFamily="34" charset="0"/>
                <a:ea typeface="Georgia" pitchFamily="34" charset="-122"/>
                <a:cs typeface="Georgia" pitchFamily="34" charset="-120"/>
              </a:rPr>
              <a:t>Khoảng trống lộ ra khi đặt cạnh nhau</a:t>
            </a:r>
            <a:endParaRPr lang="en-US" sz="3000" dirty="0"/>
          </a:p>
        </p:txBody>
      </p:sp>
      <p:sp>
        <p:nvSpPr>
          <p:cNvPr id="4" name="Shape 2"/>
          <p:cNvSpPr/>
          <p:nvPr/>
        </p:nvSpPr>
        <p:spPr>
          <a:xfrm>
            <a:off x="777240" y="1783080"/>
            <a:ext cx="3749040" cy="658368"/>
          </a:xfrm>
          <a:prstGeom prst="rect">
            <a:avLst/>
          </a:prstGeom>
          <a:solidFill>
            <a:srgbClr val="FFFFFF"/>
          </a:solidFill>
          <a:ln/>
        </p:spPr>
      </p:sp>
      <p:sp>
        <p:nvSpPr>
          <p:cNvPr id="5" name="Shape 3"/>
          <p:cNvSpPr/>
          <p:nvPr/>
        </p:nvSpPr>
        <p:spPr>
          <a:xfrm>
            <a:off x="4526280" y="1783080"/>
            <a:ext cx="1783080" cy="658368"/>
          </a:xfrm>
          <a:prstGeom prst="rect">
            <a:avLst/>
          </a:prstGeom>
          <a:solidFill>
            <a:srgbClr val="0D2B45"/>
          </a:solidFill>
          <a:ln w="12700">
            <a:solidFill>
              <a:srgbClr val="FFFFFF"/>
            </a:solidFill>
            <a:prstDash val="solid"/>
          </a:ln>
        </p:spPr>
      </p:sp>
      <p:sp>
        <p:nvSpPr>
          <p:cNvPr id="6" name="Text 4"/>
          <p:cNvSpPr/>
          <p:nvPr/>
        </p:nvSpPr>
        <p:spPr>
          <a:xfrm>
            <a:off x="4526280" y="1783080"/>
            <a:ext cx="1783080" cy="658368"/>
          </a:xfrm>
          <a:prstGeom prst="rect">
            <a:avLst/>
          </a:prstGeom>
          <a:noFill/>
          <a:ln/>
        </p:spPr>
        <p:txBody>
          <a:bodyPr wrap="square" lIns="0" tIns="0" rIns="0" bIns="0" rtlCol="0" anchor="ctr"/>
          <a:lstStyle/>
          <a:p>
            <a:pPr marL="0" indent="0" algn="ctr">
              <a:lnSpc>
                <a:spcPct val="95000"/>
              </a:lnSpc>
              <a:buNone/>
            </a:pPr>
            <a:r>
              <a:rPr lang="en-US" sz="1300" b="1" dirty="0">
                <a:solidFill>
                  <a:srgbClr val="FFFFFF"/>
                </a:solidFill>
                <a:latin typeface="Calibri" pitchFamily="34" charset="0"/>
                <a:ea typeface="Calibri" pitchFamily="34" charset="-122"/>
                <a:cs typeface="Calibri" pitchFamily="34" charset="-120"/>
              </a:rPr>
              <a:t>GNN</a:t>
            </a:r>
            <a:endParaRPr lang="en-US" sz="1300" dirty="0"/>
          </a:p>
        </p:txBody>
      </p:sp>
      <p:sp>
        <p:nvSpPr>
          <p:cNvPr id="7" name="Shape 5"/>
          <p:cNvSpPr/>
          <p:nvPr/>
        </p:nvSpPr>
        <p:spPr>
          <a:xfrm>
            <a:off x="6309360" y="1783080"/>
            <a:ext cx="1783080" cy="658368"/>
          </a:xfrm>
          <a:prstGeom prst="rect">
            <a:avLst/>
          </a:prstGeom>
          <a:solidFill>
            <a:srgbClr val="0D2B45"/>
          </a:solidFill>
          <a:ln w="12700">
            <a:solidFill>
              <a:srgbClr val="FFFFFF"/>
            </a:solidFill>
            <a:prstDash val="solid"/>
          </a:ln>
        </p:spPr>
      </p:sp>
      <p:sp>
        <p:nvSpPr>
          <p:cNvPr id="8" name="Text 6"/>
          <p:cNvSpPr/>
          <p:nvPr/>
        </p:nvSpPr>
        <p:spPr>
          <a:xfrm>
            <a:off x="6309360" y="1783080"/>
            <a:ext cx="1783080" cy="658368"/>
          </a:xfrm>
          <a:prstGeom prst="rect">
            <a:avLst/>
          </a:prstGeom>
          <a:noFill/>
          <a:ln/>
        </p:spPr>
        <p:txBody>
          <a:bodyPr wrap="square" lIns="0" tIns="0" rIns="0" bIns="0" rtlCol="0" anchor="ctr"/>
          <a:lstStyle/>
          <a:p>
            <a:pPr marL="0" indent="0" algn="ctr">
              <a:lnSpc>
                <a:spcPct val="95000"/>
              </a:lnSpc>
              <a:buNone/>
            </a:pPr>
            <a:r>
              <a:rPr lang="en-US" sz="1300" b="1" dirty="0">
                <a:solidFill>
                  <a:srgbClr val="FFFFFF"/>
                </a:solidFill>
                <a:latin typeface="Calibri" pitchFamily="34" charset="0"/>
                <a:ea typeface="Calibri" pitchFamily="34" charset="-122"/>
                <a:cs typeface="Calibri" pitchFamily="34" charset="-120"/>
              </a:rPr>
              <a:t>Contrastive</a:t>
            </a:r>
            <a:endParaRPr lang="en-US" sz="1300" dirty="0"/>
          </a:p>
          <a:p>
            <a:pPr marL="0" indent="0" algn="ctr">
              <a:lnSpc>
                <a:spcPct val="95000"/>
              </a:lnSpc>
              <a:buNone/>
            </a:pPr>
            <a:r>
              <a:rPr lang="en-US" sz="1300" b="1" dirty="0">
                <a:solidFill>
                  <a:srgbClr val="FFFFFF"/>
                </a:solidFill>
                <a:latin typeface="Calibri" pitchFamily="34" charset="0"/>
                <a:ea typeface="Calibri" pitchFamily="34" charset="-122"/>
                <a:cs typeface="Calibri" pitchFamily="34" charset="-120"/>
              </a:rPr>
              <a:t>Learning</a:t>
            </a:r>
            <a:endParaRPr lang="en-US" sz="1300" dirty="0"/>
          </a:p>
        </p:txBody>
      </p:sp>
      <p:sp>
        <p:nvSpPr>
          <p:cNvPr id="9" name="Shape 7"/>
          <p:cNvSpPr/>
          <p:nvPr/>
        </p:nvSpPr>
        <p:spPr>
          <a:xfrm>
            <a:off x="8092440" y="1783080"/>
            <a:ext cx="1783080" cy="658368"/>
          </a:xfrm>
          <a:prstGeom prst="rect">
            <a:avLst/>
          </a:prstGeom>
          <a:solidFill>
            <a:srgbClr val="0D2B45"/>
          </a:solidFill>
          <a:ln w="12700">
            <a:solidFill>
              <a:srgbClr val="FFFFFF"/>
            </a:solidFill>
            <a:prstDash val="solid"/>
          </a:ln>
        </p:spPr>
      </p:sp>
      <p:sp>
        <p:nvSpPr>
          <p:cNvPr id="10" name="Text 8"/>
          <p:cNvSpPr/>
          <p:nvPr/>
        </p:nvSpPr>
        <p:spPr>
          <a:xfrm>
            <a:off x="8092440" y="1783080"/>
            <a:ext cx="1783080" cy="658368"/>
          </a:xfrm>
          <a:prstGeom prst="rect">
            <a:avLst/>
          </a:prstGeom>
          <a:noFill/>
          <a:ln/>
        </p:spPr>
        <p:txBody>
          <a:bodyPr wrap="square" lIns="0" tIns="0" rIns="0" bIns="0" rtlCol="0" anchor="ctr"/>
          <a:lstStyle/>
          <a:p>
            <a:pPr marL="0" indent="0" algn="ctr">
              <a:lnSpc>
                <a:spcPct val="95000"/>
              </a:lnSpc>
              <a:buNone/>
            </a:pPr>
            <a:r>
              <a:rPr lang="en-US" sz="1300" b="1" dirty="0">
                <a:solidFill>
                  <a:srgbClr val="FFFFFF"/>
                </a:solidFill>
                <a:latin typeface="Calibri" pitchFamily="34" charset="0"/>
                <a:ea typeface="Calibri" pitchFamily="34" charset="-122"/>
                <a:cs typeface="Calibri" pitchFamily="34" charset="-120"/>
              </a:rPr>
              <a:t>Augment-</a:t>
            </a:r>
            <a:endParaRPr lang="en-US" sz="1300" dirty="0"/>
          </a:p>
          <a:p>
            <a:pPr marL="0" indent="0" algn="ctr">
              <a:lnSpc>
                <a:spcPct val="95000"/>
              </a:lnSpc>
              <a:buNone/>
            </a:pPr>
            <a:r>
              <a:rPr lang="en-US" sz="1300" b="1" dirty="0">
                <a:solidFill>
                  <a:srgbClr val="FFFFFF"/>
                </a:solidFill>
                <a:latin typeface="Calibri" pitchFamily="34" charset="0"/>
                <a:ea typeface="Calibri" pitchFamily="34" charset="-122"/>
                <a:cs typeface="Calibri" pitchFamily="34" charset="-120"/>
              </a:rPr>
              <a:t>ation</a:t>
            </a:r>
            <a:endParaRPr lang="en-US" sz="1300" dirty="0"/>
          </a:p>
        </p:txBody>
      </p:sp>
      <p:sp>
        <p:nvSpPr>
          <p:cNvPr id="11" name="Shape 9"/>
          <p:cNvSpPr/>
          <p:nvPr/>
        </p:nvSpPr>
        <p:spPr>
          <a:xfrm>
            <a:off x="9875520" y="1783080"/>
            <a:ext cx="1783080" cy="658368"/>
          </a:xfrm>
          <a:prstGeom prst="rect">
            <a:avLst/>
          </a:prstGeom>
          <a:solidFill>
            <a:srgbClr val="0D2B45"/>
          </a:solidFill>
          <a:ln w="12700">
            <a:solidFill>
              <a:srgbClr val="FFFFFF"/>
            </a:solidFill>
            <a:prstDash val="solid"/>
          </a:ln>
        </p:spPr>
      </p:sp>
      <p:sp>
        <p:nvSpPr>
          <p:cNvPr id="12" name="Text 10"/>
          <p:cNvSpPr/>
          <p:nvPr/>
        </p:nvSpPr>
        <p:spPr>
          <a:xfrm>
            <a:off x="9875520" y="1783080"/>
            <a:ext cx="1783080" cy="658368"/>
          </a:xfrm>
          <a:prstGeom prst="rect">
            <a:avLst/>
          </a:prstGeom>
          <a:noFill/>
          <a:ln/>
        </p:spPr>
        <p:txBody>
          <a:bodyPr wrap="square" lIns="0" tIns="0" rIns="0" bIns="0" rtlCol="0" anchor="ctr"/>
          <a:lstStyle/>
          <a:p>
            <a:pPr marL="0" indent="0" algn="ctr">
              <a:lnSpc>
                <a:spcPct val="95000"/>
              </a:lnSpc>
              <a:buNone/>
            </a:pPr>
            <a:r>
              <a:rPr lang="en-US" sz="1300" b="1" dirty="0">
                <a:solidFill>
                  <a:srgbClr val="FFFFFF"/>
                </a:solidFill>
                <a:latin typeface="Calibri" pitchFamily="34" charset="0"/>
                <a:ea typeface="Calibri" pitchFamily="34" charset="-122"/>
                <a:cs typeface="Calibri" pitchFamily="34" charset="-120"/>
              </a:rPr>
              <a:t>Category</a:t>
            </a:r>
            <a:endParaRPr lang="en-US" sz="1300" dirty="0"/>
          </a:p>
        </p:txBody>
      </p:sp>
      <p:sp>
        <p:nvSpPr>
          <p:cNvPr id="13" name="Shape 11"/>
          <p:cNvSpPr/>
          <p:nvPr/>
        </p:nvSpPr>
        <p:spPr>
          <a:xfrm>
            <a:off x="777240" y="2441448"/>
            <a:ext cx="3749040" cy="749808"/>
          </a:xfrm>
          <a:prstGeom prst="rect">
            <a:avLst/>
          </a:prstGeom>
          <a:solidFill>
            <a:srgbClr val="F1F5F9"/>
          </a:solidFill>
          <a:ln w="12700">
            <a:solidFill>
              <a:srgbClr val="FFFFFF"/>
            </a:solidFill>
            <a:prstDash val="solid"/>
          </a:ln>
        </p:spPr>
      </p:sp>
      <p:sp>
        <p:nvSpPr>
          <p:cNvPr id="14" name="Text 12"/>
          <p:cNvSpPr/>
          <p:nvPr/>
        </p:nvSpPr>
        <p:spPr>
          <a:xfrm>
            <a:off x="960120" y="2441448"/>
            <a:ext cx="3474720" cy="749808"/>
          </a:xfrm>
          <a:prstGeom prst="rect">
            <a:avLst/>
          </a:prstGeom>
          <a:noFill/>
          <a:ln/>
        </p:spPr>
        <p:txBody>
          <a:bodyPr wrap="square" lIns="0" tIns="0" rIns="0" bIns="0" rtlCol="0" anchor="ctr"/>
          <a:lstStyle/>
          <a:p>
            <a:pPr marL="0" indent="0">
              <a:buNone/>
            </a:pPr>
            <a:r>
              <a:rPr lang="en-US" sz="1400" dirty="0">
                <a:solidFill>
                  <a:srgbClr val="1E293B"/>
                </a:solidFill>
                <a:latin typeface="Calibri" pitchFamily="34" charset="0"/>
                <a:ea typeface="Calibri" pitchFamily="34" charset="-122"/>
                <a:cs typeface="Calibri" pitchFamily="34" charset="-120"/>
              </a:rPr>
              <a:t>Tier 1 — GNN backbones</a:t>
            </a:r>
            <a:endParaRPr lang="en-US" sz="1400" dirty="0"/>
          </a:p>
        </p:txBody>
      </p:sp>
      <p:sp>
        <p:nvSpPr>
          <p:cNvPr id="15" name="Shape 13"/>
          <p:cNvSpPr/>
          <p:nvPr/>
        </p:nvSpPr>
        <p:spPr>
          <a:xfrm>
            <a:off x="4526280" y="2441448"/>
            <a:ext cx="1783080" cy="749808"/>
          </a:xfrm>
          <a:prstGeom prst="rect">
            <a:avLst/>
          </a:prstGeom>
          <a:solidFill>
            <a:srgbClr val="FFFFFF"/>
          </a:solidFill>
          <a:ln w="12700">
            <a:solidFill>
              <a:srgbClr val="E2E8F0"/>
            </a:solidFill>
            <a:prstDash val="solid"/>
          </a:ln>
        </p:spPr>
      </p:sp>
      <p:pic>
        <p:nvPicPr>
          <p:cNvPr id="16" name="Image 0" descr="preencoded.png"/>
          <p:cNvPicPr>
            <a:picLocks noChangeAspect="1"/>
          </p:cNvPicPr>
          <p:nvPr/>
        </p:nvPicPr>
        <p:blipFill>
          <a:blip r:embed="rId3"/>
          <a:stretch>
            <a:fillRect/>
          </a:stretch>
        </p:blipFill>
        <p:spPr>
          <a:xfrm>
            <a:off x="5216652" y="2615184"/>
            <a:ext cx="402336" cy="402336"/>
          </a:xfrm>
          <a:prstGeom prst="rect">
            <a:avLst/>
          </a:prstGeom>
        </p:spPr>
      </p:pic>
      <p:sp>
        <p:nvSpPr>
          <p:cNvPr id="17" name="Shape 14"/>
          <p:cNvSpPr/>
          <p:nvPr/>
        </p:nvSpPr>
        <p:spPr>
          <a:xfrm>
            <a:off x="6309360" y="2441448"/>
            <a:ext cx="1783080" cy="749808"/>
          </a:xfrm>
          <a:prstGeom prst="rect">
            <a:avLst/>
          </a:prstGeom>
          <a:solidFill>
            <a:srgbClr val="FFFFFF"/>
          </a:solidFill>
          <a:ln w="12700">
            <a:solidFill>
              <a:srgbClr val="E2E8F0"/>
            </a:solidFill>
            <a:prstDash val="solid"/>
          </a:ln>
        </p:spPr>
      </p:sp>
      <p:pic>
        <p:nvPicPr>
          <p:cNvPr id="18" name="Image 1" descr="preencoded.png"/>
          <p:cNvPicPr>
            <a:picLocks noChangeAspect="1"/>
          </p:cNvPicPr>
          <p:nvPr/>
        </p:nvPicPr>
        <p:blipFill>
          <a:blip r:embed="rId4"/>
          <a:stretch>
            <a:fillRect/>
          </a:stretch>
        </p:blipFill>
        <p:spPr>
          <a:xfrm>
            <a:off x="7018020" y="2633472"/>
            <a:ext cx="365760" cy="365760"/>
          </a:xfrm>
          <a:prstGeom prst="rect">
            <a:avLst/>
          </a:prstGeom>
        </p:spPr>
      </p:pic>
      <p:sp>
        <p:nvSpPr>
          <p:cNvPr id="19" name="Shape 15"/>
          <p:cNvSpPr/>
          <p:nvPr/>
        </p:nvSpPr>
        <p:spPr>
          <a:xfrm>
            <a:off x="8092440" y="2441448"/>
            <a:ext cx="1783080" cy="749808"/>
          </a:xfrm>
          <a:prstGeom prst="rect">
            <a:avLst/>
          </a:prstGeom>
          <a:solidFill>
            <a:srgbClr val="FFFFFF"/>
          </a:solidFill>
          <a:ln w="12700">
            <a:solidFill>
              <a:srgbClr val="E2E8F0"/>
            </a:solidFill>
            <a:prstDash val="solid"/>
          </a:ln>
        </p:spPr>
      </p:sp>
      <p:pic>
        <p:nvPicPr>
          <p:cNvPr id="20" name="Image 2" descr="preencoded.png"/>
          <p:cNvPicPr>
            <a:picLocks noChangeAspect="1"/>
          </p:cNvPicPr>
          <p:nvPr/>
        </p:nvPicPr>
        <p:blipFill>
          <a:blip r:embed="rId4"/>
          <a:stretch>
            <a:fillRect/>
          </a:stretch>
        </p:blipFill>
        <p:spPr>
          <a:xfrm>
            <a:off x="8801100" y="2633472"/>
            <a:ext cx="365760" cy="365760"/>
          </a:xfrm>
          <a:prstGeom prst="rect">
            <a:avLst/>
          </a:prstGeom>
        </p:spPr>
      </p:pic>
      <p:sp>
        <p:nvSpPr>
          <p:cNvPr id="21" name="Shape 16"/>
          <p:cNvSpPr/>
          <p:nvPr/>
        </p:nvSpPr>
        <p:spPr>
          <a:xfrm>
            <a:off x="9875520" y="2441448"/>
            <a:ext cx="1783080" cy="749808"/>
          </a:xfrm>
          <a:prstGeom prst="rect">
            <a:avLst/>
          </a:prstGeom>
          <a:solidFill>
            <a:srgbClr val="FFFFFF"/>
          </a:solidFill>
          <a:ln w="12700">
            <a:solidFill>
              <a:srgbClr val="E2E8F0"/>
            </a:solidFill>
            <a:prstDash val="solid"/>
          </a:ln>
        </p:spPr>
      </p:sp>
      <p:pic>
        <p:nvPicPr>
          <p:cNvPr id="22" name="Image 3" descr="preencoded.png"/>
          <p:cNvPicPr>
            <a:picLocks noChangeAspect="1"/>
          </p:cNvPicPr>
          <p:nvPr/>
        </p:nvPicPr>
        <p:blipFill>
          <a:blip r:embed="rId4"/>
          <a:stretch>
            <a:fillRect/>
          </a:stretch>
        </p:blipFill>
        <p:spPr>
          <a:xfrm>
            <a:off x="10584180" y="2633472"/>
            <a:ext cx="365760" cy="365760"/>
          </a:xfrm>
          <a:prstGeom prst="rect">
            <a:avLst/>
          </a:prstGeom>
        </p:spPr>
      </p:pic>
      <p:sp>
        <p:nvSpPr>
          <p:cNvPr id="23" name="Shape 17"/>
          <p:cNvSpPr/>
          <p:nvPr/>
        </p:nvSpPr>
        <p:spPr>
          <a:xfrm>
            <a:off x="777240" y="3191256"/>
            <a:ext cx="3749040" cy="749808"/>
          </a:xfrm>
          <a:prstGeom prst="rect">
            <a:avLst/>
          </a:prstGeom>
          <a:solidFill>
            <a:srgbClr val="F1F5F9"/>
          </a:solidFill>
          <a:ln w="12700">
            <a:solidFill>
              <a:srgbClr val="FFFFFF"/>
            </a:solidFill>
            <a:prstDash val="solid"/>
          </a:ln>
        </p:spPr>
      </p:sp>
      <p:sp>
        <p:nvSpPr>
          <p:cNvPr id="24" name="Text 18"/>
          <p:cNvSpPr/>
          <p:nvPr/>
        </p:nvSpPr>
        <p:spPr>
          <a:xfrm>
            <a:off x="960120" y="3191256"/>
            <a:ext cx="3474720" cy="749808"/>
          </a:xfrm>
          <a:prstGeom prst="rect">
            <a:avLst/>
          </a:prstGeom>
          <a:noFill/>
          <a:ln/>
        </p:spPr>
        <p:txBody>
          <a:bodyPr wrap="square" lIns="0" tIns="0" rIns="0" bIns="0" rtlCol="0" anchor="ctr"/>
          <a:lstStyle/>
          <a:p>
            <a:pPr marL="0" indent="0">
              <a:buNone/>
            </a:pPr>
            <a:r>
              <a:rPr lang="en-US" sz="1400" dirty="0">
                <a:solidFill>
                  <a:srgbClr val="1E293B"/>
                </a:solidFill>
                <a:latin typeface="Calibri" pitchFamily="34" charset="0"/>
                <a:ea typeface="Calibri" pitchFamily="34" charset="-122"/>
                <a:cs typeface="Calibri" pitchFamily="34" charset="-120"/>
              </a:rPr>
              <a:t>Tier 2 — CL-based</a:t>
            </a:r>
            <a:endParaRPr lang="en-US" sz="1400" dirty="0"/>
          </a:p>
        </p:txBody>
      </p:sp>
      <p:sp>
        <p:nvSpPr>
          <p:cNvPr id="25" name="Shape 19"/>
          <p:cNvSpPr/>
          <p:nvPr/>
        </p:nvSpPr>
        <p:spPr>
          <a:xfrm>
            <a:off x="4526280" y="3191256"/>
            <a:ext cx="1783080" cy="749808"/>
          </a:xfrm>
          <a:prstGeom prst="rect">
            <a:avLst/>
          </a:prstGeom>
          <a:solidFill>
            <a:srgbClr val="FFFFFF"/>
          </a:solidFill>
          <a:ln w="12700">
            <a:solidFill>
              <a:srgbClr val="E2E8F0"/>
            </a:solidFill>
            <a:prstDash val="solid"/>
          </a:ln>
        </p:spPr>
      </p:sp>
      <p:pic>
        <p:nvPicPr>
          <p:cNvPr id="26" name="Image 4" descr="preencoded.png"/>
          <p:cNvPicPr>
            <a:picLocks noChangeAspect="1"/>
          </p:cNvPicPr>
          <p:nvPr/>
        </p:nvPicPr>
        <p:blipFill>
          <a:blip r:embed="rId3"/>
          <a:stretch>
            <a:fillRect/>
          </a:stretch>
        </p:blipFill>
        <p:spPr>
          <a:xfrm>
            <a:off x="5216652" y="3364992"/>
            <a:ext cx="402336" cy="402336"/>
          </a:xfrm>
          <a:prstGeom prst="rect">
            <a:avLst/>
          </a:prstGeom>
        </p:spPr>
      </p:pic>
      <p:sp>
        <p:nvSpPr>
          <p:cNvPr id="27" name="Shape 20"/>
          <p:cNvSpPr/>
          <p:nvPr/>
        </p:nvSpPr>
        <p:spPr>
          <a:xfrm>
            <a:off x="6309360" y="3191256"/>
            <a:ext cx="1783080" cy="749808"/>
          </a:xfrm>
          <a:prstGeom prst="rect">
            <a:avLst/>
          </a:prstGeom>
          <a:solidFill>
            <a:srgbClr val="FFFFFF"/>
          </a:solidFill>
          <a:ln w="12700">
            <a:solidFill>
              <a:srgbClr val="E2E8F0"/>
            </a:solidFill>
            <a:prstDash val="solid"/>
          </a:ln>
        </p:spPr>
      </p:sp>
      <p:pic>
        <p:nvPicPr>
          <p:cNvPr id="28" name="Image 5" descr="preencoded.png"/>
          <p:cNvPicPr>
            <a:picLocks noChangeAspect="1"/>
          </p:cNvPicPr>
          <p:nvPr/>
        </p:nvPicPr>
        <p:blipFill>
          <a:blip r:embed="rId3"/>
          <a:stretch>
            <a:fillRect/>
          </a:stretch>
        </p:blipFill>
        <p:spPr>
          <a:xfrm>
            <a:off x="6999732" y="3364992"/>
            <a:ext cx="402336" cy="402336"/>
          </a:xfrm>
          <a:prstGeom prst="rect">
            <a:avLst/>
          </a:prstGeom>
        </p:spPr>
      </p:pic>
      <p:sp>
        <p:nvSpPr>
          <p:cNvPr id="29" name="Shape 21"/>
          <p:cNvSpPr/>
          <p:nvPr/>
        </p:nvSpPr>
        <p:spPr>
          <a:xfrm>
            <a:off x="8092440" y="3191256"/>
            <a:ext cx="1783080" cy="749808"/>
          </a:xfrm>
          <a:prstGeom prst="rect">
            <a:avLst/>
          </a:prstGeom>
          <a:solidFill>
            <a:srgbClr val="FFFFFF"/>
          </a:solidFill>
          <a:ln w="12700">
            <a:solidFill>
              <a:srgbClr val="E2E8F0"/>
            </a:solidFill>
            <a:prstDash val="solid"/>
          </a:ln>
        </p:spPr>
      </p:sp>
      <p:sp>
        <p:nvSpPr>
          <p:cNvPr id="30" name="Text 22"/>
          <p:cNvSpPr/>
          <p:nvPr/>
        </p:nvSpPr>
        <p:spPr>
          <a:xfrm>
            <a:off x="8092440" y="3191256"/>
            <a:ext cx="1783080" cy="749808"/>
          </a:xfrm>
          <a:prstGeom prst="rect">
            <a:avLst/>
          </a:prstGeom>
          <a:noFill/>
          <a:ln/>
        </p:spPr>
        <p:txBody>
          <a:bodyPr wrap="square" lIns="0" tIns="0" rIns="0" bIns="0" rtlCol="0" anchor="ctr"/>
          <a:lstStyle/>
          <a:p>
            <a:pPr marL="0" indent="0" algn="ctr">
              <a:buNone/>
            </a:pPr>
            <a:r>
              <a:rPr lang="en-US" sz="1250" b="1" i="1" dirty="0">
                <a:solidFill>
                  <a:srgbClr val="EF4444"/>
                </a:solidFill>
                <a:latin typeface="Calibri" pitchFamily="34" charset="0"/>
                <a:ea typeface="Calibri" pitchFamily="34" charset="-122"/>
                <a:cs typeface="Calibri" pitchFamily="34" charset="-120"/>
              </a:rPr>
              <a:t>ngẫu nhiên</a:t>
            </a:r>
            <a:endParaRPr lang="en-US" sz="1250" dirty="0"/>
          </a:p>
        </p:txBody>
      </p:sp>
      <p:sp>
        <p:nvSpPr>
          <p:cNvPr id="31" name="Shape 23"/>
          <p:cNvSpPr/>
          <p:nvPr/>
        </p:nvSpPr>
        <p:spPr>
          <a:xfrm>
            <a:off x="9875520" y="3191256"/>
            <a:ext cx="1783080" cy="749808"/>
          </a:xfrm>
          <a:prstGeom prst="rect">
            <a:avLst/>
          </a:prstGeom>
          <a:solidFill>
            <a:srgbClr val="FFFFFF"/>
          </a:solidFill>
          <a:ln w="12700">
            <a:solidFill>
              <a:srgbClr val="E2E8F0"/>
            </a:solidFill>
            <a:prstDash val="solid"/>
          </a:ln>
        </p:spPr>
      </p:sp>
      <p:pic>
        <p:nvPicPr>
          <p:cNvPr id="32" name="Image 6" descr="preencoded.png"/>
          <p:cNvPicPr>
            <a:picLocks noChangeAspect="1"/>
          </p:cNvPicPr>
          <p:nvPr/>
        </p:nvPicPr>
        <p:blipFill>
          <a:blip r:embed="rId4"/>
          <a:stretch>
            <a:fillRect/>
          </a:stretch>
        </p:blipFill>
        <p:spPr>
          <a:xfrm>
            <a:off x="10584180" y="3383280"/>
            <a:ext cx="365760" cy="365760"/>
          </a:xfrm>
          <a:prstGeom prst="rect">
            <a:avLst/>
          </a:prstGeom>
        </p:spPr>
      </p:pic>
      <p:sp>
        <p:nvSpPr>
          <p:cNvPr id="33" name="Shape 24"/>
          <p:cNvSpPr/>
          <p:nvPr/>
        </p:nvSpPr>
        <p:spPr>
          <a:xfrm>
            <a:off x="777240" y="3941064"/>
            <a:ext cx="3749040" cy="749808"/>
          </a:xfrm>
          <a:prstGeom prst="rect">
            <a:avLst/>
          </a:prstGeom>
          <a:solidFill>
            <a:srgbClr val="F1F5F9"/>
          </a:solidFill>
          <a:ln w="12700">
            <a:solidFill>
              <a:srgbClr val="FFFFFF"/>
            </a:solidFill>
            <a:prstDash val="solid"/>
          </a:ln>
        </p:spPr>
      </p:sp>
      <p:sp>
        <p:nvSpPr>
          <p:cNvPr id="34" name="Text 25"/>
          <p:cNvSpPr/>
          <p:nvPr/>
        </p:nvSpPr>
        <p:spPr>
          <a:xfrm>
            <a:off x="960120" y="3941064"/>
            <a:ext cx="3474720" cy="749808"/>
          </a:xfrm>
          <a:prstGeom prst="rect">
            <a:avLst/>
          </a:prstGeom>
          <a:noFill/>
          <a:ln/>
        </p:spPr>
        <p:txBody>
          <a:bodyPr wrap="square" lIns="0" tIns="0" rIns="0" bIns="0" rtlCol="0" anchor="ctr"/>
          <a:lstStyle/>
          <a:p>
            <a:pPr marL="0" indent="0">
              <a:buNone/>
            </a:pPr>
            <a:r>
              <a:rPr lang="en-US" sz="1400" dirty="0">
                <a:solidFill>
                  <a:srgbClr val="1E293B"/>
                </a:solidFill>
                <a:latin typeface="Calibri" pitchFamily="34" charset="0"/>
                <a:ea typeface="Calibri" pitchFamily="34" charset="-122"/>
                <a:cs typeface="Calibri" pitchFamily="34" charset="-120"/>
              </a:rPr>
              <a:t>Tier 3 — Category-aware</a:t>
            </a:r>
            <a:endParaRPr lang="en-US" sz="1400" dirty="0"/>
          </a:p>
        </p:txBody>
      </p:sp>
      <p:sp>
        <p:nvSpPr>
          <p:cNvPr id="35" name="Shape 26"/>
          <p:cNvSpPr/>
          <p:nvPr/>
        </p:nvSpPr>
        <p:spPr>
          <a:xfrm>
            <a:off x="4526280" y="3941064"/>
            <a:ext cx="1783080" cy="749808"/>
          </a:xfrm>
          <a:prstGeom prst="rect">
            <a:avLst/>
          </a:prstGeom>
          <a:solidFill>
            <a:srgbClr val="FFFFFF"/>
          </a:solidFill>
          <a:ln w="12700">
            <a:solidFill>
              <a:srgbClr val="E2E8F0"/>
            </a:solidFill>
            <a:prstDash val="solid"/>
          </a:ln>
        </p:spPr>
      </p:sp>
      <p:pic>
        <p:nvPicPr>
          <p:cNvPr id="36" name="Image 7" descr="preencoded.png"/>
          <p:cNvPicPr>
            <a:picLocks noChangeAspect="1"/>
          </p:cNvPicPr>
          <p:nvPr/>
        </p:nvPicPr>
        <p:blipFill>
          <a:blip r:embed="rId3"/>
          <a:stretch>
            <a:fillRect/>
          </a:stretch>
        </p:blipFill>
        <p:spPr>
          <a:xfrm>
            <a:off x="5216652" y="4114800"/>
            <a:ext cx="402336" cy="402336"/>
          </a:xfrm>
          <a:prstGeom prst="rect">
            <a:avLst/>
          </a:prstGeom>
        </p:spPr>
      </p:pic>
      <p:sp>
        <p:nvSpPr>
          <p:cNvPr id="37" name="Shape 27"/>
          <p:cNvSpPr/>
          <p:nvPr/>
        </p:nvSpPr>
        <p:spPr>
          <a:xfrm>
            <a:off x="6309360" y="3941064"/>
            <a:ext cx="1783080" cy="749808"/>
          </a:xfrm>
          <a:prstGeom prst="rect">
            <a:avLst/>
          </a:prstGeom>
          <a:solidFill>
            <a:srgbClr val="FFFFFF"/>
          </a:solidFill>
          <a:ln w="12700">
            <a:solidFill>
              <a:srgbClr val="E2E8F0"/>
            </a:solidFill>
            <a:prstDash val="solid"/>
          </a:ln>
        </p:spPr>
      </p:sp>
      <p:pic>
        <p:nvPicPr>
          <p:cNvPr id="38" name="Image 8" descr="preencoded.png"/>
          <p:cNvPicPr>
            <a:picLocks noChangeAspect="1"/>
          </p:cNvPicPr>
          <p:nvPr/>
        </p:nvPicPr>
        <p:blipFill>
          <a:blip r:embed="rId4"/>
          <a:stretch>
            <a:fillRect/>
          </a:stretch>
        </p:blipFill>
        <p:spPr>
          <a:xfrm>
            <a:off x="7018020" y="4133088"/>
            <a:ext cx="365760" cy="365760"/>
          </a:xfrm>
          <a:prstGeom prst="rect">
            <a:avLst/>
          </a:prstGeom>
        </p:spPr>
      </p:pic>
      <p:sp>
        <p:nvSpPr>
          <p:cNvPr id="39" name="Shape 28"/>
          <p:cNvSpPr/>
          <p:nvPr/>
        </p:nvSpPr>
        <p:spPr>
          <a:xfrm>
            <a:off x="8092440" y="3941064"/>
            <a:ext cx="1783080" cy="749808"/>
          </a:xfrm>
          <a:prstGeom prst="rect">
            <a:avLst/>
          </a:prstGeom>
          <a:solidFill>
            <a:srgbClr val="FFFFFF"/>
          </a:solidFill>
          <a:ln w="12700">
            <a:solidFill>
              <a:srgbClr val="E2E8F0"/>
            </a:solidFill>
            <a:prstDash val="solid"/>
          </a:ln>
        </p:spPr>
      </p:sp>
      <p:pic>
        <p:nvPicPr>
          <p:cNvPr id="40" name="Image 9" descr="preencoded.png"/>
          <p:cNvPicPr>
            <a:picLocks noChangeAspect="1"/>
          </p:cNvPicPr>
          <p:nvPr/>
        </p:nvPicPr>
        <p:blipFill>
          <a:blip r:embed="rId4"/>
          <a:stretch>
            <a:fillRect/>
          </a:stretch>
        </p:blipFill>
        <p:spPr>
          <a:xfrm>
            <a:off x="8801100" y="4133088"/>
            <a:ext cx="365760" cy="365760"/>
          </a:xfrm>
          <a:prstGeom prst="rect">
            <a:avLst/>
          </a:prstGeom>
        </p:spPr>
      </p:pic>
      <p:sp>
        <p:nvSpPr>
          <p:cNvPr id="41" name="Shape 29"/>
          <p:cNvSpPr/>
          <p:nvPr/>
        </p:nvSpPr>
        <p:spPr>
          <a:xfrm>
            <a:off x="9875520" y="3941064"/>
            <a:ext cx="1783080" cy="749808"/>
          </a:xfrm>
          <a:prstGeom prst="rect">
            <a:avLst/>
          </a:prstGeom>
          <a:solidFill>
            <a:srgbClr val="FFFFFF"/>
          </a:solidFill>
          <a:ln w="12700">
            <a:solidFill>
              <a:srgbClr val="E2E8F0"/>
            </a:solidFill>
            <a:prstDash val="solid"/>
          </a:ln>
        </p:spPr>
      </p:sp>
      <p:sp>
        <p:nvSpPr>
          <p:cNvPr id="42" name="Text 30"/>
          <p:cNvSpPr/>
          <p:nvPr/>
        </p:nvSpPr>
        <p:spPr>
          <a:xfrm>
            <a:off x="9875520" y="3941064"/>
            <a:ext cx="1783080" cy="749808"/>
          </a:xfrm>
          <a:prstGeom prst="rect">
            <a:avLst/>
          </a:prstGeom>
          <a:noFill/>
          <a:ln/>
        </p:spPr>
        <p:txBody>
          <a:bodyPr wrap="square" lIns="0" tIns="0" rIns="0" bIns="0" rtlCol="0" anchor="ctr"/>
          <a:lstStyle/>
          <a:p>
            <a:pPr marL="0" indent="0" algn="ctr">
              <a:buNone/>
            </a:pPr>
            <a:r>
              <a:rPr lang="en-US" sz="1250" b="1" i="1" dirty="0">
                <a:solidFill>
                  <a:srgbClr val="EAB308"/>
                </a:solidFill>
                <a:latin typeface="Calibri" pitchFamily="34" charset="0"/>
                <a:ea typeface="Calibri" pitchFamily="34" charset="-122"/>
                <a:cs typeface="Calibri" pitchFamily="34" charset="-120"/>
              </a:rPr>
              <a:t>chỉ graph</a:t>
            </a:r>
            <a:endParaRPr lang="en-US" sz="1250" dirty="0"/>
          </a:p>
        </p:txBody>
      </p:sp>
      <p:sp>
        <p:nvSpPr>
          <p:cNvPr id="43" name="Shape 31"/>
          <p:cNvSpPr/>
          <p:nvPr/>
        </p:nvSpPr>
        <p:spPr>
          <a:xfrm>
            <a:off x="777240" y="4690872"/>
            <a:ext cx="3749040" cy="749808"/>
          </a:xfrm>
          <a:prstGeom prst="rect">
            <a:avLst/>
          </a:prstGeom>
          <a:solidFill>
            <a:srgbClr val="0E7C7B"/>
          </a:solidFill>
          <a:ln w="12700">
            <a:solidFill>
              <a:srgbClr val="FFFFFF"/>
            </a:solidFill>
            <a:prstDash val="solid"/>
          </a:ln>
        </p:spPr>
      </p:sp>
      <p:sp>
        <p:nvSpPr>
          <p:cNvPr id="44" name="Text 32"/>
          <p:cNvSpPr/>
          <p:nvPr/>
        </p:nvSpPr>
        <p:spPr>
          <a:xfrm>
            <a:off x="960120" y="4690872"/>
            <a:ext cx="3474720" cy="749808"/>
          </a:xfrm>
          <a:prstGeom prst="rect">
            <a:avLst/>
          </a:prstGeom>
          <a:noFill/>
          <a:ln/>
        </p:spPr>
        <p:txBody>
          <a:bodyPr wrap="square" lIns="0" tIns="0" rIns="0" bIns="0" rtlCol="0" anchor="ctr"/>
          <a:lstStyle/>
          <a:p>
            <a:pPr marL="0" indent="0">
              <a:buNone/>
            </a:pPr>
            <a:r>
              <a:rPr lang="en-US" sz="1600" b="1" dirty="0">
                <a:solidFill>
                  <a:srgbClr val="FFFFFF"/>
                </a:solidFill>
                <a:latin typeface="Georgia" pitchFamily="34" charset="0"/>
                <a:ea typeface="Georgia" pitchFamily="34" charset="-122"/>
                <a:cs typeface="Georgia" pitchFamily="34" charset="-120"/>
              </a:rPr>
              <a:t>CatSA (đề xuất)</a:t>
            </a:r>
            <a:endParaRPr lang="en-US" sz="1600" dirty="0"/>
          </a:p>
        </p:txBody>
      </p:sp>
      <p:sp>
        <p:nvSpPr>
          <p:cNvPr id="45" name="Shape 33"/>
          <p:cNvSpPr/>
          <p:nvPr/>
        </p:nvSpPr>
        <p:spPr>
          <a:xfrm>
            <a:off x="4526280" y="4690872"/>
            <a:ext cx="1783080" cy="749808"/>
          </a:xfrm>
          <a:prstGeom prst="rect">
            <a:avLst/>
          </a:prstGeom>
          <a:solidFill>
            <a:srgbClr val="E9FBF8"/>
          </a:solidFill>
          <a:ln w="12700">
            <a:solidFill>
              <a:srgbClr val="E2E8F0"/>
            </a:solidFill>
            <a:prstDash val="solid"/>
          </a:ln>
        </p:spPr>
      </p:sp>
      <p:pic>
        <p:nvPicPr>
          <p:cNvPr id="46" name="Image 10" descr="preencoded.png"/>
          <p:cNvPicPr>
            <a:picLocks noChangeAspect="1"/>
          </p:cNvPicPr>
          <p:nvPr/>
        </p:nvPicPr>
        <p:blipFill>
          <a:blip r:embed="rId3"/>
          <a:stretch>
            <a:fillRect/>
          </a:stretch>
        </p:blipFill>
        <p:spPr>
          <a:xfrm>
            <a:off x="5216652" y="4864608"/>
            <a:ext cx="402336" cy="402336"/>
          </a:xfrm>
          <a:prstGeom prst="rect">
            <a:avLst/>
          </a:prstGeom>
        </p:spPr>
      </p:pic>
      <p:sp>
        <p:nvSpPr>
          <p:cNvPr id="47" name="Shape 34"/>
          <p:cNvSpPr/>
          <p:nvPr/>
        </p:nvSpPr>
        <p:spPr>
          <a:xfrm>
            <a:off x="6309360" y="4690872"/>
            <a:ext cx="1783080" cy="749808"/>
          </a:xfrm>
          <a:prstGeom prst="rect">
            <a:avLst/>
          </a:prstGeom>
          <a:solidFill>
            <a:srgbClr val="E9FBF8"/>
          </a:solidFill>
          <a:ln w="12700">
            <a:solidFill>
              <a:srgbClr val="E2E8F0"/>
            </a:solidFill>
            <a:prstDash val="solid"/>
          </a:ln>
        </p:spPr>
      </p:sp>
      <p:pic>
        <p:nvPicPr>
          <p:cNvPr id="48" name="Image 11" descr="preencoded.png"/>
          <p:cNvPicPr>
            <a:picLocks noChangeAspect="1"/>
          </p:cNvPicPr>
          <p:nvPr/>
        </p:nvPicPr>
        <p:blipFill>
          <a:blip r:embed="rId3"/>
          <a:stretch>
            <a:fillRect/>
          </a:stretch>
        </p:blipFill>
        <p:spPr>
          <a:xfrm>
            <a:off x="6999732" y="4864608"/>
            <a:ext cx="402336" cy="402336"/>
          </a:xfrm>
          <a:prstGeom prst="rect">
            <a:avLst/>
          </a:prstGeom>
        </p:spPr>
      </p:pic>
      <p:sp>
        <p:nvSpPr>
          <p:cNvPr id="49" name="Shape 35"/>
          <p:cNvSpPr/>
          <p:nvPr/>
        </p:nvSpPr>
        <p:spPr>
          <a:xfrm>
            <a:off x="8092440" y="4690872"/>
            <a:ext cx="1783080" cy="749808"/>
          </a:xfrm>
          <a:prstGeom prst="rect">
            <a:avLst/>
          </a:prstGeom>
          <a:solidFill>
            <a:srgbClr val="E9FBF8"/>
          </a:solidFill>
          <a:ln w="12700">
            <a:solidFill>
              <a:srgbClr val="E2E8F0"/>
            </a:solidFill>
            <a:prstDash val="solid"/>
          </a:ln>
        </p:spPr>
      </p:sp>
      <p:sp>
        <p:nvSpPr>
          <p:cNvPr id="50" name="Text 36"/>
          <p:cNvSpPr/>
          <p:nvPr/>
        </p:nvSpPr>
        <p:spPr>
          <a:xfrm>
            <a:off x="8092440" y="4690872"/>
            <a:ext cx="1783080" cy="749808"/>
          </a:xfrm>
          <a:prstGeom prst="rect">
            <a:avLst/>
          </a:prstGeom>
          <a:noFill/>
          <a:ln/>
        </p:spPr>
        <p:txBody>
          <a:bodyPr wrap="square" lIns="0" tIns="0" rIns="0" bIns="0" rtlCol="0" anchor="ctr"/>
          <a:lstStyle/>
          <a:p>
            <a:pPr marL="0" indent="0" algn="ctr">
              <a:buNone/>
            </a:pPr>
            <a:r>
              <a:rPr lang="en-US" sz="1250" b="1" i="1" dirty="0">
                <a:solidFill>
                  <a:srgbClr val="047857"/>
                </a:solidFill>
                <a:latin typeface="Calibri" pitchFamily="34" charset="0"/>
                <a:ea typeface="Calibri" pitchFamily="34" charset="-122"/>
                <a:cs typeface="Calibri" pitchFamily="34" charset="-120"/>
              </a:rPr>
              <a:t>category</a:t>
            </a:r>
            <a:endParaRPr lang="en-US" sz="1250" dirty="0"/>
          </a:p>
        </p:txBody>
      </p:sp>
      <p:sp>
        <p:nvSpPr>
          <p:cNvPr id="51" name="Shape 37"/>
          <p:cNvSpPr/>
          <p:nvPr/>
        </p:nvSpPr>
        <p:spPr>
          <a:xfrm>
            <a:off x="9875520" y="4690872"/>
            <a:ext cx="1783080" cy="749808"/>
          </a:xfrm>
          <a:prstGeom prst="rect">
            <a:avLst/>
          </a:prstGeom>
          <a:solidFill>
            <a:srgbClr val="E9FBF8"/>
          </a:solidFill>
          <a:ln w="12700">
            <a:solidFill>
              <a:srgbClr val="E2E8F0"/>
            </a:solidFill>
            <a:prstDash val="solid"/>
          </a:ln>
        </p:spPr>
      </p:sp>
      <p:pic>
        <p:nvPicPr>
          <p:cNvPr id="52" name="Image 12" descr="preencoded.png"/>
          <p:cNvPicPr>
            <a:picLocks noChangeAspect="1"/>
          </p:cNvPicPr>
          <p:nvPr/>
        </p:nvPicPr>
        <p:blipFill>
          <a:blip r:embed="rId3"/>
          <a:stretch>
            <a:fillRect/>
          </a:stretch>
        </p:blipFill>
        <p:spPr>
          <a:xfrm>
            <a:off x="10565892" y="4864608"/>
            <a:ext cx="402336" cy="402336"/>
          </a:xfrm>
          <a:prstGeom prst="rect">
            <a:avLst/>
          </a:prstGeom>
        </p:spPr>
      </p:pic>
      <p:sp>
        <p:nvSpPr>
          <p:cNvPr id="53" name="Text 38"/>
          <p:cNvSpPr/>
          <p:nvPr/>
        </p:nvSpPr>
        <p:spPr>
          <a:xfrm>
            <a:off x="777240" y="5715000"/>
            <a:ext cx="10607040" cy="411480"/>
          </a:xfrm>
          <a:prstGeom prst="rect">
            <a:avLst/>
          </a:prstGeom>
          <a:noFill/>
          <a:ln/>
        </p:spPr>
        <p:txBody>
          <a:bodyPr wrap="square" lIns="0" tIns="0" rIns="0" bIns="0" rtlCol="0" anchor="ctr"/>
          <a:lstStyle/>
          <a:p>
            <a:pPr marL="0" indent="0">
              <a:buNone/>
            </a:pPr>
            <a:r>
              <a:rPr lang="en-US" sz="1500" dirty="0">
                <a:solidFill>
                  <a:srgbClr val="1E293B"/>
                </a:solidFill>
                <a:latin typeface="Calibri" pitchFamily="34" charset="0"/>
                <a:ea typeface="Calibri" pitchFamily="34" charset="-122"/>
                <a:cs typeface="Calibri" pitchFamily="34" charset="-120"/>
              </a:rPr>
              <a:t>Không phương pháp nào kết hợp đồng thời  </a:t>
            </a:r>
            <a:r>
              <a:rPr lang="en-US" sz="1500" b="1" dirty="0">
                <a:solidFill>
                  <a:srgbClr val="0E7C7B"/>
                </a:solidFill>
                <a:latin typeface="Calibri" pitchFamily="34" charset="0"/>
                <a:ea typeface="Calibri" pitchFamily="34" charset="-122"/>
                <a:cs typeface="Calibri" pitchFamily="34" charset="-120"/>
              </a:rPr>
              <a:t>category-guided augmentation + CL</a:t>
            </a:r>
            <a:r>
              <a:rPr lang="en-US" sz="1500" dirty="0">
                <a:solidFill>
                  <a:srgbClr val="1E293B"/>
                </a:solidFill>
                <a:latin typeface="Calibri" pitchFamily="34" charset="0"/>
                <a:ea typeface="Calibri" pitchFamily="34" charset="-122"/>
                <a:cs typeface="Calibri" pitchFamily="34" charset="-120"/>
              </a:rPr>
              <a:t>  →  đây là khoảng trống CatSA lấp.</a:t>
            </a:r>
            <a:endParaRPr lang="en-US" sz="1500" dirty="0"/>
          </a:p>
        </p:txBody>
      </p:sp>
      <p:sp>
        <p:nvSpPr>
          <p:cNvPr id="54" name="Text 39"/>
          <p:cNvSpPr/>
          <p:nvPr/>
        </p:nvSpPr>
        <p:spPr>
          <a:xfrm>
            <a:off x="548640" y="6473952"/>
            <a:ext cx="54864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CatSA · Background &amp; Motivation</a:t>
            </a:r>
            <a:endParaRPr lang="en-US" sz="900" dirty="0"/>
          </a:p>
        </p:txBody>
      </p:sp>
      <p:sp>
        <p:nvSpPr>
          <p:cNvPr id="55" name="Text 40"/>
          <p:cNvSpPr/>
          <p:nvPr/>
        </p:nvSpPr>
        <p:spPr>
          <a:xfrm>
            <a:off x="11155680" y="6473952"/>
            <a:ext cx="4572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10</a:t>
            </a:r>
            <a:endParaRPr lang="en-US" sz="9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2B45"/>
        </a:solidFill>
        <a:effectLst/>
      </p:bgPr>
    </p:bg>
    <p:spTree>
      <p:nvGrpSpPr>
        <p:cNvPr id="1" name=""/>
        <p:cNvGrpSpPr/>
        <p:nvPr/>
      </p:nvGrpSpPr>
      <p:grpSpPr>
        <a:xfrm>
          <a:off x="0" y="0"/>
          <a:ext cx="0" cy="0"/>
          <a:chOff x="0" y="0"/>
          <a:chExt cx="0" cy="0"/>
        </a:xfrm>
      </p:grpSpPr>
      <p:sp>
        <p:nvSpPr>
          <p:cNvPr id="2" name="Text 0"/>
          <p:cNvSpPr/>
          <p:nvPr/>
        </p:nvSpPr>
        <p:spPr>
          <a:xfrm>
            <a:off x="548640" y="457200"/>
            <a:ext cx="10972800" cy="320040"/>
          </a:xfrm>
          <a:prstGeom prst="rect">
            <a:avLst/>
          </a:prstGeom>
          <a:noFill/>
          <a:ln/>
        </p:spPr>
        <p:txBody>
          <a:bodyPr wrap="square" lIns="0" tIns="0" rIns="0" bIns="0" rtlCol="0" anchor="ctr"/>
          <a:lstStyle/>
          <a:p>
            <a:pPr marL="0" indent="0">
              <a:buNone/>
            </a:pPr>
            <a:r>
              <a:rPr lang="en-US" sz="1300" b="1" kern="0" spc="400" dirty="0">
                <a:solidFill>
                  <a:srgbClr val="5EC9C7"/>
                </a:solidFill>
                <a:latin typeface="Arial" pitchFamily="34" charset="0"/>
                <a:ea typeface="Arial" pitchFamily="34" charset="-122"/>
                <a:cs typeface="Arial" pitchFamily="34" charset="-120"/>
              </a:rPr>
              <a:t>ĐỀ XUẤT</a:t>
            </a:r>
            <a:endParaRPr lang="en-US" sz="1300" dirty="0"/>
          </a:p>
        </p:txBody>
      </p:sp>
      <p:sp>
        <p:nvSpPr>
          <p:cNvPr id="3" name="Text 1"/>
          <p:cNvSpPr/>
          <p:nvPr/>
        </p:nvSpPr>
        <p:spPr>
          <a:xfrm>
            <a:off x="548640" y="777240"/>
            <a:ext cx="11064240" cy="640080"/>
          </a:xfrm>
          <a:prstGeom prst="rect">
            <a:avLst/>
          </a:prstGeom>
          <a:noFill/>
          <a:ln/>
        </p:spPr>
        <p:txBody>
          <a:bodyPr wrap="square" lIns="0" tIns="0" rIns="0" bIns="0" rtlCol="0" anchor="ctr"/>
          <a:lstStyle/>
          <a:p>
            <a:pPr marL="0" indent="0">
              <a:buNone/>
            </a:pPr>
            <a:r>
              <a:rPr lang="en-US" sz="2800" b="1" dirty="0">
                <a:solidFill>
                  <a:srgbClr val="FFFFFF"/>
                </a:solidFill>
                <a:latin typeface="Georgia" pitchFamily="34" charset="0"/>
                <a:ea typeface="Georgia" pitchFamily="34" charset="-122"/>
                <a:cs typeface="Georgia" pitchFamily="34" charset="-120"/>
              </a:rPr>
              <a:t>CatSA</a:t>
            </a:r>
            <a:r>
              <a:rPr lang="en-US" sz="2800" b="1" dirty="0">
                <a:solidFill>
                  <a:srgbClr val="CADCFC"/>
                </a:solidFill>
                <a:latin typeface="Georgia" pitchFamily="34" charset="0"/>
                <a:ea typeface="Georgia" pitchFamily="34" charset="-122"/>
                <a:cs typeface="Georgia" pitchFamily="34" charset="-120"/>
              </a:rPr>
              <a:t> — Category-Structure-Guided Session Augmentation</a:t>
            </a:r>
            <a:endParaRPr lang="en-US" sz="2800" dirty="0"/>
          </a:p>
        </p:txBody>
      </p:sp>
      <p:sp>
        <p:nvSpPr>
          <p:cNvPr id="4" name="Shape 2"/>
          <p:cNvSpPr/>
          <p:nvPr/>
        </p:nvSpPr>
        <p:spPr>
          <a:xfrm>
            <a:off x="342900" y="1783080"/>
            <a:ext cx="3611880" cy="3200400"/>
          </a:xfrm>
          <a:prstGeom prst="roundRect">
            <a:avLst>
              <a:gd name="adj" fmla="val 2857"/>
            </a:avLst>
          </a:prstGeom>
          <a:solidFill>
            <a:srgbClr val="13395B"/>
          </a:solidFill>
          <a:ln w="19050">
            <a:solidFill>
              <a:srgbClr val="0E7C7B"/>
            </a:solidFill>
            <a:prstDash val="solid"/>
          </a:ln>
          <a:effectLst>
            <a:outerShdw blurRad="88900" dist="38100" dir="8100000" algn="bl" rotWithShape="0">
              <a:srgbClr val="000000">
                <a:alpha val="16000"/>
              </a:srgbClr>
            </a:outerShdw>
          </a:effectLst>
        </p:spPr>
      </p:sp>
      <p:sp>
        <p:nvSpPr>
          <p:cNvPr id="5" name="Shape 3"/>
          <p:cNvSpPr/>
          <p:nvPr/>
        </p:nvSpPr>
        <p:spPr>
          <a:xfrm>
            <a:off x="1645920" y="2103120"/>
            <a:ext cx="1005840" cy="1005840"/>
          </a:xfrm>
          <a:prstGeom prst="ellipse">
            <a:avLst/>
          </a:prstGeom>
          <a:solidFill>
            <a:srgbClr val="0E7C7B"/>
          </a:solidFill>
          <a:ln/>
        </p:spPr>
      </p:sp>
      <p:pic>
        <p:nvPicPr>
          <p:cNvPr id="6" name="Image 0" descr="preencoded.png"/>
          <p:cNvPicPr>
            <a:picLocks noChangeAspect="1"/>
          </p:cNvPicPr>
          <p:nvPr/>
        </p:nvPicPr>
        <p:blipFill>
          <a:blip r:embed="rId3"/>
          <a:stretch>
            <a:fillRect/>
          </a:stretch>
        </p:blipFill>
        <p:spPr>
          <a:xfrm>
            <a:off x="1856232" y="2313432"/>
            <a:ext cx="585216" cy="585216"/>
          </a:xfrm>
          <a:prstGeom prst="rect">
            <a:avLst/>
          </a:prstGeom>
        </p:spPr>
      </p:pic>
      <p:sp>
        <p:nvSpPr>
          <p:cNvPr id="7" name="Text 4"/>
          <p:cNvSpPr/>
          <p:nvPr/>
        </p:nvSpPr>
        <p:spPr>
          <a:xfrm>
            <a:off x="617220" y="3246120"/>
            <a:ext cx="3063240" cy="320040"/>
          </a:xfrm>
          <a:prstGeom prst="rect">
            <a:avLst/>
          </a:prstGeom>
          <a:noFill/>
          <a:ln/>
        </p:spPr>
        <p:txBody>
          <a:bodyPr wrap="square" lIns="0" tIns="0" rIns="0" bIns="0" rtlCol="0" anchor="ctr"/>
          <a:lstStyle/>
          <a:p>
            <a:pPr marL="0" indent="0" algn="ctr">
              <a:buNone/>
            </a:pPr>
            <a:r>
              <a:rPr lang="en-US" sz="1300" b="1" kern="0" spc="100" dirty="0">
                <a:solidFill>
                  <a:srgbClr val="F4A261"/>
                </a:solidFill>
                <a:latin typeface="Arial" pitchFamily="34" charset="0"/>
                <a:ea typeface="Arial" pitchFamily="34" charset="-122"/>
                <a:cs typeface="Arial" pitchFamily="34" charset="-120"/>
              </a:rPr>
              <a:t>Module 1</a:t>
            </a:r>
            <a:endParaRPr lang="en-US" sz="1300" dirty="0"/>
          </a:p>
        </p:txBody>
      </p:sp>
      <p:sp>
        <p:nvSpPr>
          <p:cNvPr id="8" name="Text 5"/>
          <p:cNvSpPr/>
          <p:nvPr/>
        </p:nvSpPr>
        <p:spPr>
          <a:xfrm>
            <a:off x="617220" y="3566160"/>
            <a:ext cx="3063240" cy="685800"/>
          </a:xfrm>
          <a:prstGeom prst="rect">
            <a:avLst/>
          </a:prstGeom>
          <a:noFill/>
          <a:ln/>
        </p:spPr>
        <p:txBody>
          <a:bodyPr wrap="square" lIns="0" tIns="0" rIns="0" bIns="0" rtlCol="0" anchor="ctr"/>
          <a:lstStyle/>
          <a:p>
            <a:pPr marL="0" indent="0" algn="ctr">
              <a:lnSpc>
                <a:spcPct val="95000"/>
              </a:lnSpc>
              <a:buNone/>
            </a:pPr>
            <a:r>
              <a:rPr lang="en-US" sz="1800" b="1" dirty="0">
                <a:solidFill>
                  <a:srgbClr val="FFFFFF"/>
                </a:solidFill>
                <a:latin typeface="Georgia" pitchFamily="34" charset="0"/>
                <a:ea typeface="Georgia" pitchFamily="34" charset="-122"/>
                <a:cs typeface="Georgia" pitchFamily="34" charset="-120"/>
              </a:rPr>
              <a:t>Category-Enhanced</a:t>
            </a:r>
            <a:endParaRPr lang="en-US" sz="1800" dirty="0"/>
          </a:p>
          <a:p>
            <a:pPr marL="0" indent="0" algn="ctr">
              <a:lnSpc>
                <a:spcPct val="95000"/>
              </a:lnSpc>
              <a:buNone/>
            </a:pPr>
            <a:r>
              <a:rPr lang="en-US" sz="1800" b="1" dirty="0">
                <a:solidFill>
                  <a:srgbClr val="FFFFFF"/>
                </a:solidFill>
                <a:latin typeface="Georgia" pitchFamily="34" charset="0"/>
                <a:ea typeface="Georgia" pitchFamily="34" charset="-122"/>
                <a:cs typeface="Georgia" pitchFamily="34" charset="-120"/>
              </a:rPr>
              <a:t>Session Graph</a:t>
            </a:r>
            <a:endParaRPr lang="en-US" sz="1800" dirty="0"/>
          </a:p>
        </p:txBody>
      </p:sp>
      <p:sp>
        <p:nvSpPr>
          <p:cNvPr id="9" name="Text 6"/>
          <p:cNvSpPr/>
          <p:nvPr/>
        </p:nvSpPr>
        <p:spPr>
          <a:xfrm>
            <a:off x="617220" y="4251960"/>
            <a:ext cx="3063240" cy="640080"/>
          </a:xfrm>
          <a:prstGeom prst="rect">
            <a:avLst/>
          </a:prstGeom>
          <a:noFill/>
          <a:ln/>
        </p:spPr>
        <p:txBody>
          <a:bodyPr wrap="square" lIns="0" tIns="0" rIns="0" bIns="0" rtlCol="0" anchor="ctr"/>
          <a:lstStyle/>
          <a:p>
            <a:pPr marL="0" indent="0" algn="ctr">
              <a:lnSpc>
                <a:spcPct val="105000"/>
              </a:lnSpc>
              <a:buNone/>
            </a:pPr>
            <a:r>
              <a:rPr lang="en-US" sz="1200" dirty="0">
                <a:solidFill>
                  <a:srgbClr val="CBD5E1"/>
                </a:solidFill>
                <a:latin typeface="Calibri" pitchFamily="34" charset="0"/>
                <a:ea typeface="Calibri" pitchFamily="34" charset="-122"/>
                <a:cs typeface="Calibri" pitchFamily="34" charset="-120"/>
              </a:rPr>
              <a:t>Heterogeneous graph với item nodes + category nodes. Kế thừa &amp; mở rộng Cat-GNN / HGCAN.</a:t>
            </a:r>
            <a:endParaRPr lang="en-US" sz="1200" dirty="0"/>
          </a:p>
        </p:txBody>
      </p:sp>
      <p:sp>
        <p:nvSpPr>
          <p:cNvPr id="10" name="Shape 7"/>
          <p:cNvSpPr/>
          <p:nvPr/>
        </p:nvSpPr>
        <p:spPr>
          <a:xfrm>
            <a:off x="4274820" y="1783080"/>
            <a:ext cx="3611880" cy="3200400"/>
          </a:xfrm>
          <a:prstGeom prst="roundRect">
            <a:avLst>
              <a:gd name="adj" fmla="val 2857"/>
            </a:avLst>
          </a:prstGeom>
          <a:solidFill>
            <a:srgbClr val="13395B"/>
          </a:solidFill>
          <a:ln w="19050">
            <a:solidFill>
              <a:srgbClr val="0E7C7B"/>
            </a:solidFill>
            <a:prstDash val="solid"/>
          </a:ln>
          <a:effectLst>
            <a:outerShdw blurRad="88900" dist="38100" dir="8100000" algn="bl" rotWithShape="0">
              <a:srgbClr val="000000">
                <a:alpha val="16000"/>
              </a:srgbClr>
            </a:outerShdw>
          </a:effectLst>
        </p:spPr>
      </p:sp>
      <p:sp>
        <p:nvSpPr>
          <p:cNvPr id="11" name="Shape 8"/>
          <p:cNvSpPr/>
          <p:nvPr/>
        </p:nvSpPr>
        <p:spPr>
          <a:xfrm>
            <a:off x="5577840" y="2103120"/>
            <a:ext cx="1005840" cy="1005840"/>
          </a:xfrm>
          <a:prstGeom prst="ellipse">
            <a:avLst/>
          </a:prstGeom>
          <a:solidFill>
            <a:srgbClr val="0E7C7B"/>
          </a:solidFill>
          <a:ln/>
        </p:spPr>
      </p:sp>
      <p:pic>
        <p:nvPicPr>
          <p:cNvPr id="12" name="Image 1" descr="preencoded.png"/>
          <p:cNvPicPr>
            <a:picLocks noChangeAspect="1"/>
          </p:cNvPicPr>
          <p:nvPr/>
        </p:nvPicPr>
        <p:blipFill>
          <a:blip r:embed="rId4"/>
          <a:stretch>
            <a:fillRect/>
          </a:stretch>
        </p:blipFill>
        <p:spPr>
          <a:xfrm>
            <a:off x="5788152" y="2313432"/>
            <a:ext cx="585216" cy="585216"/>
          </a:xfrm>
          <a:prstGeom prst="rect">
            <a:avLst/>
          </a:prstGeom>
        </p:spPr>
      </p:pic>
      <p:sp>
        <p:nvSpPr>
          <p:cNvPr id="13" name="Text 9"/>
          <p:cNvSpPr/>
          <p:nvPr/>
        </p:nvSpPr>
        <p:spPr>
          <a:xfrm>
            <a:off x="4549140" y="3246120"/>
            <a:ext cx="3063240" cy="320040"/>
          </a:xfrm>
          <a:prstGeom prst="rect">
            <a:avLst/>
          </a:prstGeom>
          <a:noFill/>
          <a:ln/>
        </p:spPr>
        <p:txBody>
          <a:bodyPr wrap="square" lIns="0" tIns="0" rIns="0" bIns="0" rtlCol="0" anchor="ctr"/>
          <a:lstStyle/>
          <a:p>
            <a:pPr marL="0" indent="0" algn="ctr">
              <a:buNone/>
            </a:pPr>
            <a:r>
              <a:rPr lang="en-US" sz="1300" b="1" kern="0" spc="100" dirty="0">
                <a:solidFill>
                  <a:srgbClr val="F4A261"/>
                </a:solidFill>
                <a:latin typeface="Arial" pitchFamily="34" charset="0"/>
                <a:ea typeface="Arial" pitchFamily="34" charset="-122"/>
                <a:cs typeface="Arial" pitchFamily="34" charset="-120"/>
              </a:rPr>
              <a:t>Module 2</a:t>
            </a:r>
            <a:endParaRPr lang="en-US" sz="1300" dirty="0"/>
          </a:p>
        </p:txBody>
      </p:sp>
      <p:sp>
        <p:nvSpPr>
          <p:cNvPr id="14" name="Text 10"/>
          <p:cNvSpPr/>
          <p:nvPr/>
        </p:nvSpPr>
        <p:spPr>
          <a:xfrm>
            <a:off x="4549140" y="3566160"/>
            <a:ext cx="3063240" cy="685800"/>
          </a:xfrm>
          <a:prstGeom prst="rect">
            <a:avLst/>
          </a:prstGeom>
          <a:noFill/>
          <a:ln/>
        </p:spPr>
        <p:txBody>
          <a:bodyPr wrap="square" lIns="0" tIns="0" rIns="0" bIns="0" rtlCol="0" anchor="ctr"/>
          <a:lstStyle/>
          <a:p>
            <a:pPr marL="0" indent="0" algn="ctr">
              <a:lnSpc>
                <a:spcPct val="95000"/>
              </a:lnSpc>
              <a:buNone/>
            </a:pPr>
            <a:r>
              <a:rPr lang="en-US" sz="1800" b="1" dirty="0">
                <a:solidFill>
                  <a:srgbClr val="FFFFFF"/>
                </a:solidFill>
                <a:latin typeface="Georgia" pitchFamily="34" charset="0"/>
                <a:ea typeface="Georgia" pitchFamily="34" charset="-122"/>
                <a:cs typeface="Georgia" pitchFamily="34" charset="-120"/>
              </a:rPr>
              <a:t>Category-Guided</a:t>
            </a:r>
            <a:endParaRPr lang="en-US" sz="1800" dirty="0"/>
          </a:p>
          <a:p>
            <a:pPr marL="0" indent="0" algn="ctr">
              <a:lnSpc>
                <a:spcPct val="95000"/>
              </a:lnSpc>
              <a:buNone/>
            </a:pPr>
            <a:r>
              <a:rPr lang="en-US" sz="1800" b="1" dirty="0">
                <a:solidFill>
                  <a:srgbClr val="FFFFFF"/>
                </a:solidFill>
                <a:latin typeface="Georgia" pitchFamily="34" charset="0"/>
                <a:ea typeface="Georgia" pitchFamily="34" charset="-122"/>
                <a:cs typeface="Georgia" pitchFamily="34" charset="-120"/>
              </a:rPr>
              <a:t>Augmentation</a:t>
            </a:r>
            <a:endParaRPr lang="en-US" sz="1800" dirty="0"/>
          </a:p>
        </p:txBody>
      </p:sp>
      <p:sp>
        <p:nvSpPr>
          <p:cNvPr id="15" name="Text 11"/>
          <p:cNvSpPr/>
          <p:nvPr/>
        </p:nvSpPr>
        <p:spPr>
          <a:xfrm>
            <a:off x="4549140" y="4251960"/>
            <a:ext cx="3063240" cy="640080"/>
          </a:xfrm>
          <a:prstGeom prst="rect">
            <a:avLst/>
          </a:prstGeom>
          <a:noFill/>
          <a:ln/>
        </p:spPr>
        <p:txBody>
          <a:bodyPr wrap="square" lIns="0" tIns="0" rIns="0" bIns="0" rtlCol="0" anchor="ctr"/>
          <a:lstStyle/>
          <a:p>
            <a:pPr marL="0" indent="0" algn="ctr">
              <a:lnSpc>
                <a:spcPct val="105000"/>
              </a:lnSpc>
              <a:buNone/>
            </a:pPr>
            <a:r>
              <a:rPr lang="en-US" sz="1200" dirty="0">
                <a:solidFill>
                  <a:srgbClr val="CBD5E1"/>
                </a:solidFill>
                <a:latin typeface="Calibri" pitchFamily="34" charset="0"/>
                <a:ea typeface="Calibri" pitchFamily="34" charset="-122"/>
                <a:cs typeface="Calibri" pitchFamily="34" charset="-120"/>
              </a:rPr>
              <a:t>Ba chiến lược: same-leaf, sibling-leaf, hybrid — bảo toàn ý định ở cấp danh mục.</a:t>
            </a:r>
            <a:endParaRPr lang="en-US" sz="1200" dirty="0"/>
          </a:p>
        </p:txBody>
      </p:sp>
      <p:sp>
        <p:nvSpPr>
          <p:cNvPr id="16" name="Shape 12"/>
          <p:cNvSpPr/>
          <p:nvPr/>
        </p:nvSpPr>
        <p:spPr>
          <a:xfrm>
            <a:off x="8206740" y="1783080"/>
            <a:ext cx="3611880" cy="3200400"/>
          </a:xfrm>
          <a:prstGeom prst="roundRect">
            <a:avLst>
              <a:gd name="adj" fmla="val 2857"/>
            </a:avLst>
          </a:prstGeom>
          <a:solidFill>
            <a:srgbClr val="13395B"/>
          </a:solidFill>
          <a:ln w="19050">
            <a:solidFill>
              <a:srgbClr val="0E7C7B"/>
            </a:solidFill>
            <a:prstDash val="solid"/>
          </a:ln>
          <a:effectLst>
            <a:outerShdw blurRad="88900" dist="38100" dir="8100000" algn="bl" rotWithShape="0">
              <a:srgbClr val="000000">
                <a:alpha val="16000"/>
              </a:srgbClr>
            </a:outerShdw>
          </a:effectLst>
        </p:spPr>
      </p:sp>
      <p:sp>
        <p:nvSpPr>
          <p:cNvPr id="17" name="Shape 13"/>
          <p:cNvSpPr/>
          <p:nvPr/>
        </p:nvSpPr>
        <p:spPr>
          <a:xfrm>
            <a:off x="9509760" y="2103120"/>
            <a:ext cx="1005840" cy="1005840"/>
          </a:xfrm>
          <a:prstGeom prst="ellipse">
            <a:avLst/>
          </a:prstGeom>
          <a:solidFill>
            <a:srgbClr val="0E7C7B"/>
          </a:solidFill>
          <a:ln/>
        </p:spPr>
      </p:sp>
      <p:pic>
        <p:nvPicPr>
          <p:cNvPr id="18" name="Image 2" descr="preencoded.png"/>
          <p:cNvPicPr>
            <a:picLocks noChangeAspect="1"/>
          </p:cNvPicPr>
          <p:nvPr/>
        </p:nvPicPr>
        <p:blipFill>
          <a:blip r:embed="rId5"/>
          <a:stretch>
            <a:fillRect/>
          </a:stretch>
        </p:blipFill>
        <p:spPr>
          <a:xfrm>
            <a:off x="9720072" y="2313432"/>
            <a:ext cx="585216" cy="585216"/>
          </a:xfrm>
          <a:prstGeom prst="rect">
            <a:avLst/>
          </a:prstGeom>
        </p:spPr>
      </p:pic>
      <p:sp>
        <p:nvSpPr>
          <p:cNvPr id="19" name="Text 14"/>
          <p:cNvSpPr/>
          <p:nvPr/>
        </p:nvSpPr>
        <p:spPr>
          <a:xfrm>
            <a:off x="8481060" y="3246120"/>
            <a:ext cx="3063240" cy="320040"/>
          </a:xfrm>
          <a:prstGeom prst="rect">
            <a:avLst/>
          </a:prstGeom>
          <a:noFill/>
          <a:ln/>
        </p:spPr>
        <p:txBody>
          <a:bodyPr wrap="square" lIns="0" tIns="0" rIns="0" bIns="0" rtlCol="0" anchor="ctr"/>
          <a:lstStyle/>
          <a:p>
            <a:pPr marL="0" indent="0" algn="ctr">
              <a:buNone/>
            </a:pPr>
            <a:r>
              <a:rPr lang="en-US" sz="1300" b="1" kern="0" spc="100" dirty="0">
                <a:solidFill>
                  <a:srgbClr val="F4A261"/>
                </a:solidFill>
                <a:latin typeface="Arial" pitchFamily="34" charset="0"/>
                <a:ea typeface="Arial" pitchFamily="34" charset="-122"/>
                <a:cs typeface="Arial" pitchFamily="34" charset="-120"/>
              </a:rPr>
              <a:t>Module 3</a:t>
            </a:r>
            <a:endParaRPr lang="en-US" sz="1300" dirty="0"/>
          </a:p>
        </p:txBody>
      </p:sp>
      <p:sp>
        <p:nvSpPr>
          <p:cNvPr id="20" name="Text 15"/>
          <p:cNvSpPr/>
          <p:nvPr/>
        </p:nvSpPr>
        <p:spPr>
          <a:xfrm>
            <a:off x="8481060" y="3566160"/>
            <a:ext cx="3063240" cy="685800"/>
          </a:xfrm>
          <a:prstGeom prst="rect">
            <a:avLst/>
          </a:prstGeom>
          <a:noFill/>
          <a:ln/>
        </p:spPr>
        <p:txBody>
          <a:bodyPr wrap="square" lIns="0" tIns="0" rIns="0" bIns="0" rtlCol="0" anchor="ctr"/>
          <a:lstStyle/>
          <a:p>
            <a:pPr marL="0" indent="0" algn="ctr">
              <a:lnSpc>
                <a:spcPct val="95000"/>
              </a:lnSpc>
              <a:buNone/>
            </a:pPr>
            <a:r>
              <a:rPr lang="en-US" sz="1800" b="1" dirty="0">
                <a:solidFill>
                  <a:srgbClr val="FFFFFF"/>
                </a:solidFill>
                <a:latin typeface="Georgia" pitchFamily="34" charset="0"/>
                <a:ea typeface="Georgia" pitchFamily="34" charset="-122"/>
                <a:cs typeface="Georgia" pitchFamily="34" charset="-120"/>
              </a:rPr>
              <a:t>Session-level</a:t>
            </a:r>
            <a:endParaRPr lang="en-US" sz="1800" dirty="0"/>
          </a:p>
          <a:p>
            <a:pPr marL="0" indent="0" algn="ctr">
              <a:lnSpc>
                <a:spcPct val="95000"/>
              </a:lnSpc>
              <a:buNone/>
            </a:pPr>
            <a:r>
              <a:rPr lang="en-US" sz="1800" b="1" dirty="0">
                <a:solidFill>
                  <a:srgbClr val="FFFFFF"/>
                </a:solidFill>
                <a:latin typeface="Georgia" pitchFamily="34" charset="0"/>
                <a:ea typeface="Georgia" pitchFamily="34" charset="-122"/>
                <a:cs typeface="Georgia" pitchFamily="34" charset="-120"/>
              </a:rPr>
              <a:t>InfoNCE Loss</a:t>
            </a:r>
            <a:endParaRPr lang="en-US" sz="1800" dirty="0"/>
          </a:p>
        </p:txBody>
      </p:sp>
      <p:sp>
        <p:nvSpPr>
          <p:cNvPr id="21" name="Text 16"/>
          <p:cNvSpPr/>
          <p:nvPr/>
        </p:nvSpPr>
        <p:spPr>
          <a:xfrm>
            <a:off x="8481060" y="4251960"/>
            <a:ext cx="3063240" cy="640080"/>
          </a:xfrm>
          <a:prstGeom prst="rect">
            <a:avLst/>
          </a:prstGeom>
          <a:noFill/>
          <a:ln/>
        </p:spPr>
        <p:txBody>
          <a:bodyPr wrap="square" lIns="0" tIns="0" rIns="0" bIns="0" rtlCol="0" anchor="ctr"/>
          <a:lstStyle/>
          <a:p>
            <a:pPr marL="0" indent="0" algn="ctr">
              <a:lnSpc>
                <a:spcPct val="105000"/>
              </a:lnSpc>
              <a:buNone/>
            </a:pPr>
            <a:r>
              <a:rPr lang="en-US" sz="1200" dirty="0">
                <a:solidFill>
                  <a:srgbClr val="CBD5E1"/>
                </a:solidFill>
                <a:latin typeface="Calibri" pitchFamily="34" charset="0"/>
                <a:ea typeface="Calibri" pitchFamily="34" charset="-122"/>
                <a:cs typeface="Calibri" pitchFamily="34" charset="-120"/>
              </a:rPr>
              <a:t>CL trên augmented pairs có ngữ nghĩa → biểu diễn robust với biến đổi category-preserving.</a:t>
            </a:r>
            <a:endParaRPr lang="en-US" sz="1200" dirty="0"/>
          </a:p>
        </p:txBody>
      </p:sp>
      <p:sp>
        <p:nvSpPr>
          <p:cNvPr id="22" name="Text 17"/>
          <p:cNvSpPr/>
          <p:nvPr/>
        </p:nvSpPr>
        <p:spPr>
          <a:xfrm>
            <a:off x="548640" y="5257800"/>
            <a:ext cx="11064240" cy="457200"/>
          </a:xfrm>
          <a:prstGeom prst="rect">
            <a:avLst/>
          </a:prstGeom>
          <a:noFill/>
          <a:ln/>
        </p:spPr>
        <p:txBody>
          <a:bodyPr wrap="square" lIns="0" tIns="0" rIns="0" bIns="0" rtlCol="0" anchor="ctr"/>
          <a:lstStyle/>
          <a:p>
            <a:pPr marL="0" indent="0" algn="ctr">
              <a:buNone/>
            </a:pPr>
            <a:r>
              <a:rPr lang="en-US" sz="1700" b="1" dirty="0">
                <a:solidFill>
                  <a:srgbClr val="FFFFFF"/>
                </a:solidFill>
                <a:latin typeface="Consolas" pitchFamily="34" charset="0"/>
                <a:ea typeface="Consolas" pitchFamily="34" charset="-122"/>
                <a:cs typeface="Consolas" pitchFamily="34" charset="-120"/>
              </a:rPr>
              <a:t>L = L</a:t>
            </a:r>
            <a:r>
              <a:rPr lang="en-US" sz="1700" b="1" baseline="-40000" dirty="0">
                <a:solidFill>
                  <a:srgbClr val="FFFFFF"/>
                </a:solidFill>
                <a:latin typeface="Consolas" pitchFamily="34" charset="0"/>
                <a:ea typeface="Consolas" pitchFamily="34" charset="-122"/>
                <a:cs typeface="Consolas" pitchFamily="34" charset="-120"/>
              </a:rPr>
              <a:t>rec</a:t>
            </a:r>
            <a:r>
              <a:rPr lang="en-US" sz="1700" b="1" dirty="0">
                <a:solidFill>
                  <a:srgbClr val="FFFFFF"/>
                </a:solidFill>
                <a:latin typeface="Consolas" pitchFamily="34" charset="0"/>
                <a:ea typeface="Consolas" pitchFamily="34" charset="-122"/>
                <a:cs typeface="Consolas" pitchFamily="34" charset="-120"/>
              </a:rPr>
              <a:t> + λ · L</a:t>
            </a:r>
            <a:r>
              <a:rPr lang="en-US" sz="1700" b="1" baseline="-40000" dirty="0">
                <a:solidFill>
                  <a:srgbClr val="FFFFFF"/>
                </a:solidFill>
                <a:latin typeface="Consolas" pitchFamily="34" charset="0"/>
                <a:ea typeface="Consolas" pitchFamily="34" charset="-122"/>
                <a:cs typeface="Consolas" pitchFamily="34" charset="-120"/>
              </a:rPr>
              <a:t>CL-session</a:t>
            </a:r>
            <a:r>
              <a:rPr lang="en-US" sz="1700" dirty="0">
                <a:solidFill>
                  <a:srgbClr val="94A3B8"/>
                </a:solidFill>
                <a:latin typeface="Consolas" pitchFamily="34" charset="0"/>
                <a:ea typeface="Consolas" pitchFamily="34" charset="-122"/>
                <a:cs typeface="Consolas" pitchFamily="34" charset="-120"/>
              </a:rPr>
              <a:t>     (multi-task: next-item + contrastive)</a:t>
            </a:r>
            <a:endParaRPr lang="en-US" sz="1700" dirty="0"/>
          </a:p>
        </p:txBody>
      </p:sp>
      <p:sp>
        <p:nvSpPr>
          <p:cNvPr id="23" name="Text 18"/>
          <p:cNvSpPr/>
          <p:nvPr/>
        </p:nvSpPr>
        <p:spPr>
          <a:xfrm>
            <a:off x="548640" y="6473952"/>
            <a:ext cx="54864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CatSA · Background &amp; Motivation</a:t>
            </a:r>
            <a:endParaRPr lang="en-US" sz="900" dirty="0"/>
          </a:p>
        </p:txBody>
      </p:sp>
      <p:sp>
        <p:nvSpPr>
          <p:cNvPr id="24" name="Text 19"/>
          <p:cNvSpPr/>
          <p:nvPr/>
        </p:nvSpPr>
        <p:spPr>
          <a:xfrm>
            <a:off x="11155680" y="6473952"/>
            <a:ext cx="4572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11</a:t>
            </a:r>
            <a:endParaRPr lang="en-US" sz="9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lIns="0" tIns="0" rIns="0" bIns="0" rtlCol="0" anchor="ctr"/>
          <a:lstStyle/>
          <a:p>
            <a:pPr marL="0" indent="0">
              <a:buNone/>
            </a:pPr>
            <a:r>
              <a:rPr lang="en-US" sz="1200" b="1" kern="0" spc="300" dirty="0">
                <a:solidFill>
                  <a:srgbClr val="0E7C7B"/>
                </a:solidFill>
                <a:latin typeface="Arial" pitchFamily="34" charset="0"/>
                <a:ea typeface="Arial" pitchFamily="34" charset="-122"/>
                <a:cs typeface="Arial" pitchFamily="34" charset="-120"/>
              </a:rPr>
              <a:t>CÂU HỎI NGHIÊN CỨU</a:t>
            </a:r>
            <a:endParaRPr lang="en-US" sz="12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0D2B45"/>
                </a:solidFill>
                <a:latin typeface="Georgia" pitchFamily="34" charset="0"/>
                <a:ea typeface="Georgia" pitchFamily="34" charset="-122"/>
                <a:cs typeface="Georgia" pitchFamily="34" charset="-120"/>
              </a:rPr>
              <a:t>Ba câu hỏi — ba thí nghiệm — ba so sánh</a:t>
            </a:r>
            <a:endParaRPr lang="en-US" sz="3000" dirty="0"/>
          </a:p>
        </p:txBody>
      </p:sp>
      <p:sp>
        <p:nvSpPr>
          <p:cNvPr id="4" name="Shape 2"/>
          <p:cNvSpPr/>
          <p:nvPr/>
        </p:nvSpPr>
        <p:spPr>
          <a:xfrm>
            <a:off x="548640" y="1783080"/>
            <a:ext cx="11064240" cy="1143000"/>
          </a:xfrm>
          <a:prstGeom prst="roundRect">
            <a:avLst>
              <a:gd name="adj" fmla="val 6400"/>
            </a:avLst>
          </a:prstGeom>
          <a:solidFill>
            <a:srgbClr val="F1F5F9"/>
          </a:solidFill>
          <a:ln w="12700">
            <a:solidFill>
              <a:srgbClr val="CBD5E1"/>
            </a:solidFill>
            <a:prstDash val="solid"/>
          </a:ln>
          <a:effectLst>
            <a:outerShdw blurRad="88900" dist="38100" dir="8100000" algn="bl" rotWithShape="0">
              <a:srgbClr val="000000">
                <a:alpha val="16000"/>
              </a:srgbClr>
            </a:outerShdw>
          </a:effectLst>
        </p:spPr>
      </p:sp>
      <p:sp>
        <p:nvSpPr>
          <p:cNvPr id="5" name="Shape 3"/>
          <p:cNvSpPr/>
          <p:nvPr/>
        </p:nvSpPr>
        <p:spPr>
          <a:xfrm>
            <a:off x="777240" y="2011680"/>
            <a:ext cx="1325880" cy="685800"/>
          </a:xfrm>
          <a:prstGeom prst="roundRect">
            <a:avLst>
              <a:gd name="adj" fmla="val 8000"/>
            </a:avLst>
          </a:prstGeom>
          <a:solidFill>
            <a:srgbClr val="0E7C7B"/>
          </a:solidFill>
          <a:ln/>
        </p:spPr>
      </p:sp>
      <p:sp>
        <p:nvSpPr>
          <p:cNvPr id="6" name="Text 4"/>
          <p:cNvSpPr/>
          <p:nvPr/>
        </p:nvSpPr>
        <p:spPr>
          <a:xfrm>
            <a:off x="777240" y="1965960"/>
            <a:ext cx="1325880" cy="41148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RQ1</a:t>
            </a:r>
            <a:endParaRPr lang="en-US" sz="2200" dirty="0"/>
          </a:p>
        </p:txBody>
      </p:sp>
      <p:sp>
        <p:nvSpPr>
          <p:cNvPr id="7" name="Text 5"/>
          <p:cNvSpPr/>
          <p:nvPr/>
        </p:nvSpPr>
        <p:spPr>
          <a:xfrm>
            <a:off x="777240" y="2350008"/>
            <a:ext cx="1325880" cy="274320"/>
          </a:xfrm>
          <a:prstGeom prst="rect">
            <a:avLst/>
          </a:prstGeom>
          <a:noFill/>
          <a:ln/>
        </p:spPr>
        <p:txBody>
          <a:bodyPr wrap="square" lIns="0" tIns="0" rIns="0" bIns="0" rtlCol="0" anchor="ctr"/>
          <a:lstStyle/>
          <a:p>
            <a:pPr marL="0" indent="0" algn="ctr">
              <a:buNone/>
            </a:pPr>
            <a:r>
              <a:rPr lang="en-US" sz="1000" b="1" kern="0" spc="100" dirty="0">
                <a:solidFill>
                  <a:srgbClr val="CFF3F0"/>
                </a:solidFill>
                <a:latin typeface="Arial" pitchFamily="34" charset="0"/>
                <a:ea typeface="Arial" pitchFamily="34" charset="-122"/>
                <a:cs typeface="Arial" pitchFamily="34" charset="-120"/>
              </a:rPr>
              <a:t>Efficacy</a:t>
            </a:r>
            <a:endParaRPr lang="en-US" sz="1000" dirty="0"/>
          </a:p>
        </p:txBody>
      </p:sp>
      <p:sp>
        <p:nvSpPr>
          <p:cNvPr id="8" name="Text 6"/>
          <p:cNvSpPr/>
          <p:nvPr/>
        </p:nvSpPr>
        <p:spPr>
          <a:xfrm>
            <a:off x="2331720" y="1920240"/>
            <a:ext cx="7040880" cy="868680"/>
          </a:xfrm>
          <a:prstGeom prst="rect">
            <a:avLst/>
          </a:prstGeom>
          <a:noFill/>
          <a:ln/>
        </p:spPr>
        <p:txBody>
          <a:bodyPr wrap="square" lIns="0" tIns="0" rIns="0" bIns="0" rtlCol="0" anchor="ctr"/>
          <a:lstStyle/>
          <a:p>
            <a:pPr marL="0" indent="0">
              <a:lnSpc>
                <a:spcPct val="105000"/>
              </a:lnSpc>
              <a:buNone/>
            </a:pPr>
            <a:r>
              <a:rPr lang="en-US" sz="1450" dirty="0">
                <a:solidFill>
                  <a:srgbClr val="1E293B"/>
                </a:solidFill>
                <a:latin typeface="Calibri" pitchFamily="34" charset="0"/>
                <a:ea typeface="Calibri" pitchFamily="34" charset="-122"/>
                <a:cs typeface="Calibri" pitchFamily="34" charset="-120"/>
              </a:rPr>
              <a:t>Category-guided augmentation có vượt random augmentation (CL4SRec) và augmentation-free CL (SCL)?</a:t>
            </a:r>
            <a:endParaRPr lang="en-US" sz="1450" dirty="0"/>
          </a:p>
        </p:txBody>
      </p:sp>
      <p:sp>
        <p:nvSpPr>
          <p:cNvPr id="9" name="Text 7"/>
          <p:cNvSpPr/>
          <p:nvPr/>
        </p:nvSpPr>
        <p:spPr>
          <a:xfrm>
            <a:off x="9509760" y="1920240"/>
            <a:ext cx="1920240" cy="868680"/>
          </a:xfrm>
          <a:prstGeom prst="rect">
            <a:avLst/>
          </a:prstGeom>
          <a:noFill/>
          <a:ln/>
        </p:spPr>
        <p:txBody>
          <a:bodyPr wrap="square" lIns="0" tIns="0" rIns="0" bIns="0" rtlCol="0" anchor="ctr"/>
          <a:lstStyle/>
          <a:p>
            <a:pPr marL="0" indent="0" algn="r">
              <a:buNone/>
            </a:pPr>
            <a:r>
              <a:rPr lang="en-US" sz="1200" b="1" i="1" dirty="0">
                <a:solidFill>
                  <a:srgbClr val="F4A261"/>
                </a:solidFill>
                <a:latin typeface="Calibri" pitchFamily="34" charset="0"/>
                <a:ea typeface="Calibri" pitchFamily="34" charset="-122"/>
                <a:cs typeface="Calibri" pitchFamily="34" charset="-120"/>
              </a:rPr>
              <a:t>↔ so với Tier 2</a:t>
            </a:r>
            <a:endParaRPr lang="en-US" sz="1200" dirty="0"/>
          </a:p>
        </p:txBody>
      </p:sp>
      <p:sp>
        <p:nvSpPr>
          <p:cNvPr id="10" name="Shape 8"/>
          <p:cNvSpPr/>
          <p:nvPr/>
        </p:nvSpPr>
        <p:spPr>
          <a:xfrm>
            <a:off x="548640" y="3090672"/>
            <a:ext cx="11064240" cy="1143000"/>
          </a:xfrm>
          <a:prstGeom prst="roundRect">
            <a:avLst>
              <a:gd name="adj" fmla="val 6400"/>
            </a:avLst>
          </a:prstGeom>
          <a:solidFill>
            <a:srgbClr val="F1F5F9"/>
          </a:solidFill>
          <a:ln w="12700">
            <a:solidFill>
              <a:srgbClr val="CBD5E1"/>
            </a:solidFill>
            <a:prstDash val="solid"/>
          </a:ln>
          <a:effectLst>
            <a:outerShdw blurRad="88900" dist="38100" dir="8100000" algn="bl" rotWithShape="0">
              <a:srgbClr val="000000">
                <a:alpha val="16000"/>
              </a:srgbClr>
            </a:outerShdw>
          </a:effectLst>
        </p:spPr>
      </p:sp>
      <p:sp>
        <p:nvSpPr>
          <p:cNvPr id="11" name="Shape 9"/>
          <p:cNvSpPr/>
          <p:nvPr/>
        </p:nvSpPr>
        <p:spPr>
          <a:xfrm>
            <a:off x="777240" y="3319272"/>
            <a:ext cx="1325880" cy="685800"/>
          </a:xfrm>
          <a:prstGeom prst="roundRect">
            <a:avLst>
              <a:gd name="adj" fmla="val 8000"/>
            </a:avLst>
          </a:prstGeom>
          <a:solidFill>
            <a:srgbClr val="0E7C7B"/>
          </a:solidFill>
          <a:ln/>
        </p:spPr>
      </p:sp>
      <p:sp>
        <p:nvSpPr>
          <p:cNvPr id="12" name="Text 10"/>
          <p:cNvSpPr/>
          <p:nvPr/>
        </p:nvSpPr>
        <p:spPr>
          <a:xfrm>
            <a:off x="777240" y="3273552"/>
            <a:ext cx="1325880" cy="41148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RQ2</a:t>
            </a:r>
            <a:endParaRPr lang="en-US" sz="2200" dirty="0"/>
          </a:p>
        </p:txBody>
      </p:sp>
      <p:sp>
        <p:nvSpPr>
          <p:cNvPr id="13" name="Text 11"/>
          <p:cNvSpPr/>
          <p:nvPr/>
        </p:nvSpPr>
        <p:spPr>
          <a:xfrm>
            <a:off x="777240" y="3657600"/>
            <a:ext cx="1325880" cy="274320"/>
          </a:xfrm>
          <a:prstGeom prst="rect">
            <a:avLst/>
          </a:prstGeom>
          <a:noFill/>
          <a:ln/>
        </p:spPr>
        <p:txBody>
          <a:bodyPr wrap="square" lIns="0" tIns="0" rIns="0" bIns="0" rtlCol="0" anchor="ctr"/>
          <a:lstStyle/>
          <a:p>
            <a:pPr marL="0" indent="0" algn="ctr">
              <a:buNone/>
            </a:pPr>
            <a:r>
              <a:rPr lang="en-US" sz="1000" b="1" kern="0" spc="100" dirty="0">
                <a:solidFill>
                  <a:srgbClr val="CFF3F0"/>
                </a:solidFill>
                <a:latin typeface="Arial" pitchFamily="34" charset="0"/>
                <a:ea typeface="Arial" pitchFamily="34" charset="-122"/>
                <a:cs typeface="Arial" pitchFamily="34" charset="-120"/>
              </a:rPr>
              <a:t>Component</a:t>
            </a:r>
            <a:endParaRPr lang="en-US" sz="1000" dirty="0"/>
          </a:p>
        </p:txBody>
      </p:sp>
      <p:sp>
        <p:nvSpPr>
          <p:cNvPr id="14" name="Text 12"/>
          <p:cNvSpPr/>
          <p:nvPr/>
        </p:nvSpPr>
        <p:spPr>
          <a:xfrm>
            <a:off x="2331720" y="3227832"/>
            <a:ext cx="7040880" cy="868680"/>
          </a:xfrm>
          <a:prstGeom prst="rect">
            <a:avLst/>
          </a:prstGeom>
          <a:noFill/>
          <a:ln/>
        </p:spPr>
        <p:txBody>
          <a:bodyPr wrap="square" lIns="0" tIns="0" rIns="0" bIns="0" rtlCol="0" anchor="ctr"/>
          <a:lstStyle/>
          <a:p>
            <a:pPr marL="0" indent="0">
              <a:lnSpc>
                <a:spcPct val="105000"/>
              </a:lnSpc>
              <a:buNone/>
            </a:pPr>
            <a:r>
              <a:rPr lang="en-US" sz="1450" dirty="0">
                <a:solidFill>
                  <a:srgbClr val="1E293B"/>
                </a:solidFill>
                <a:latin typeface="Calibri" pitchFamily="34" charset="0"/>
                <a:ea typeface="Calibri" pitchFamily="34" charset="-122"/>
                <a:cs typeface="Calibri" pitchFamily="34" charset="-120"/>
              </a:rPr>
              <a:t>Mỗi thành phần (graph / augmentation / CL) đóng góp bao nhiêu cho hiệu năng tổng thể?</a:t>
            </a:r>
            <a:endParaRPr lang="en-US" sz="1450" dirty="0"/>
          </a:p>
        </p:txBody>
      </p:sp>
      <p:sp>
        <p:nvSpPr>
          <p:cNvPr id="15" name="Text 13"/>
          <p:cNvSpPr/>
          <p:nvPr/>
        </p:nvSpPr>
        <p:spPr>
          <a:xfrm>
            <a:off x="9509760" y="3227832"/>
            <a:ext cx="1920240" cy="868680"/>
          </a:xfrm>
          <a:prstGeom prst="rect">
            <a:avLst/>
          </a:prstGeom>
          <a:noFill/>
          <a:ln/>
        </p:spPr>
        <p:txBody>
          <a:bodyPr wrap="square" lIns="0" tIns="0" rIns="0" bIns="0" rtlCol="0" anchor="ctr"/>
          <a:lstStyle/>
          <a:p>
            <a:pPr marL="0" indent="0" algn="r">
              <a:buNone/>
            </a:pPr>
            <a:r>
              <a:rPr lang="en-US" sz="1200" b="1" i="1" dirty="0">
                <a:solidFill>
                  <a:srgbClr val="F4A261"/>
                </a:solidFill>
                <a:latin typeface="Calibri" pitchFamily="34" charset="0"/>
                <a:ea typeface="Calibri" pitchFamily="34" charset="-122"/>
                <a:cs typeface="Calibri" pitchFamily="34" charset="-120"/>
              </a:rPr>
              <a:t>↔ ablation study</a:t>
            </a:r>
            <a:endParaRPr lang="en-US" sz="1200" dirty="0"/>
          </a:p>
        </p:txBody>
      </p:sp>
      <p:sp>
        <p:nvSpPr>
          <p:cNvPr id="16" name="Shape 14"/>
          <p:cNvSpPr/>
          <p:nvPr/>
        </p:nvSpPr>
        <p:spPr>
          <a:xfrm>
            <a:off x="548640" y="4398264"/>
            <a:ext cx="11064240" cy="1143000"/>
          </a:xfrm>
          <a:prstGeom prst="roundRect">
            <a:avLst>
              <a:gd name="adj" fmla="val 6400"/>
            </a:avLst>
          </a:prstGeom>
          <a:solidFill>
            <a:srgbClr val="F1F5F9"/>
          </a:solidFill>
          <a:ln w="12700">
            <a:solidFill>
              <a:srgbClr val="CBD5E1"/>
            </a:solidFill>
            <a:prstDash val="solid"/>
          </a:ln>
          <a:effectLst>
            <a:outerShdw blurRad="88900" dist="38100" dir="8100000" algn="bl" rotWithShape="0">
              <a:srgbClr val="000000">
                <a:alpha val="16000"/>
              </a:srgbClr>
            </a:outerShdw>
          </a:effectLst>
        </p:spPr>
      </p:sp>
      <p:sp>
        <p:nvSpPr>
          <p:cNvPr id="17" name="Shape 15"/>
          <p:cNvSpPr/>
          <p:nvPr/>
        </p:nvSpPr>
        <p:spPr>
          <a:xfrm>
            <a:off x="777240" y="4626864"/>
            <a:ext cx="1325880" cy="685800"/>
          </a:xfrm>
          <a:prstGeom prst="roundRect">
            <a:avLst>
              <a:gd name="adj" fmla="val 8000"/>
            </a:avLst>
          </a:prstGeom>
          <a:solidFill>
            <a:srgbClr val="0E7C7B"/>
          </a:solidFill>
          <a:ln/>
        </p:spPr>
      </p:sp>
      <p:sp>
        <p:nvSpPr>
          <p:cNvPr id="18" name="Text 16"/>
          <p:cNvSpPr/>
          <p:nvPr/>
        </p:nvSpPr>
        <p:spPr>
          <a:xfrm>
            <a:off x="777240" y="4581144"/>
            <a:ext cx="1325880" cy="41148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RQ3</a:t>
            </a:r>
            <a:endParaRPr lang="en-US" sz="2200" dirty="0"/>
          </a:p>
        </p:txBody>
      </p:sp>
      <p:sp>
        <p:nvSpPr>
          <p:cNvPr id="19" name="Text 17"/>
          <p:cNvSpPr/>
          <p:nvPr/>
        </p:nvSpPr>
        <p:spPr>
          <a:xfrm>
            <a:off x="777240" y="4965192"/>
            <a:ext cx="1325880" cy="274320"/>
          </a:xfrm>
          <a:prstGeom prst="rect">
            <a:avLst/>
          </a:prstGeom>
          <a:noFill/>
          <a:ln/>
        </p:spPr>
        <p:txBody>
          <a:bodyPr wrap="square" lIns="0" tIns="0" rIns="0" bIns="0" rtlCol="0" anchor="ctr"/>
          <a:lstStyle/>
          <a:p>
            <a:pPr marL="0" indent="0" algn="ctr">
              <a:buNone/>
            </a:pPr>
            <a:r>
              <a:rPr lang="en-US" sz="1000" b="1" kern="0" spc="100" dirty="0">
                <a:solidFill>
                  <a:srgbClr val="CFF3F0"/>
                </a:solidFill>
                <a:latin typeface="Arial" pitchFamily="34" charset="0"/>
                <a:ea typeface="Arial" pitchFamily="34" charset="-122"/>
                <a:cs typeface="Arial" pitchFamily="34" charset="-120"/>
              </a:rPr>
              <a:t>Robustness</a:t>
            </a:r>
            <a:endParaRPr lang="en-US" sz="1000" dirty="0"/>
          </a:p>
        </p:txBody>
      </p:sp>
      <p:sp>
        <p:nvSpPr>
          <p:cNvPr id="20" name="Text 18"/>
          <p:cNvSpPr/>
          <p:nvPr/>
        </p:nvSpPr>
        <p:spPr>
          <a:xfrm>
            <a:off x="2331720" y="4535424"/>
            <a:ext cx="7040880" cy="868680"/>
          </a:xfrm>
          <a:prstGeom prst="rect">
            <a:avLst/>
          </a:prstGeom>
          <a:noFill/>
          <a:ln/>
        </p:spPr>
        <p:txBody>
          <a:bodyPr wrap="square" lIns="0" tIns="0" rIns="0" bIns="0" rtlCol="0" anchor="ctr"/>
          <a:lstStyle/>
          <a:p>
            <a:pPr marL="0" indent="0">
              <a:lnSpc>
                <a:spcPct val="105000"/>
              </a:lnSpc>
              <a:buNone/>
            </a:pPr>
            <a:r>
              <a:rPr lang="en-US" sz="1450" dirty="0">
                <a:solidFill>
                  <a:srgbClr val="1E293B"/>
                </a:solidFill>
                <a:latin typeface="Calibri" pitchFamily="34" charset="0"/>
                <a:ea typeface="Calibri" pitchFamily="34" charset="-122"/>
                <a:cs typeface="Calibri" pitchFamily="34" charset="-120"/>
              </a:rPr>
              <a:t>Hiệu quả có nhất quán qua loại dataset (flat vs taxonomy) và độ dài phiên (ngắn vs dài)?</a:t>
            </a:r>
            <a:endParaRPr lang="en-US" sz="1450" dirty="0"/>
          </a:p>
        </p:txBody>
      </p:sp>
      <p:sp>
        <p:nvSpPr>
          <p:cNvPr id="21" name="Text 19"/>
          <p:cNvSpPr/>
          <p:nvPr/>
        </p:nvSpPr>
        <p:spPr>
          <a:xfrm>
            <a:off x="9509760" y="4535424"/>
            <a:ext cx="1920240" cy="868680"/>
          </a:xfrm>
          <a:prstGeom prst="rect">
            <a:avLst/>
          </a:prstGeom>
          <a:noFill/>
          <a:ln/>
        </p:spPr>
        <p:txBody>
          <a:bodyPr wrap="square" lIns="0" tIns="0" rIns="0" bIns="0" rtlCol="0" anchor="ctr"/>
          <a:lstStyle/>
          <a:p>
            <a:pPr marL="0" indent="0" algn="r">
              <a:buNone/>
            </a:pPr>
            <a:r>
              <a:rPr lang="en-US" sz="1200" b="1" i="1" dirty="0">
                <a:solidFill>
                  <a:srgbClr val="F4A261"/>
                </a:solidFill>
                <a:latin typeface="Calibri" pitchFamily="34" charset="0"/>
                <a:ea typeface="Calibri" pitchFamily="34" charset="-122"/>
                <a:cs typeface="Calibri" pitchFamily="34" charset="-120"/>
              </a:rPr>
              <a:t>↔ cross-dataset + Tier 1/3</a:t>
            </a:r>
            <a:endParaRPr lang="en-US" sz="1200" dirty="0"/>
          </a:p>
        </p:txBody>
      </p:sp>
      <p:sp>
        <p:nvSpPr>
          <p:cNvPr id="22" name="Text 20"/>
          <p:cNvSpPr/>
          <p:nvPr/>
        </p:nvSpPr>
        <p:spPr>
          <a:xfrm>
            <a:off x="548640" y="5797296"/>
            <a:ext cx="11064240" cy="457200"/>
          </a:xfrm>
          <a:prstGeom prst="rect">
            <a:avLst/>
          </a:prstGeom>
          <a:noFill/>
          <a:ln/>
        </p:spPr>
        <p:txBody>
          <a:bodyPr wrap="square" lIns="0" tIns="0" rIns="0" bIns="0" rtlCol="0" anchor="ctr"/>
          <a:lstStyle/>
          <a:p>
            <a:pPr marL="0" indent="0" algn="ctr">
              <a:buNone/>
            </a:pPr>
            <a:r>
              <a:rPr lang="en-US" sz="1400" i="1" dirty="0">
                <a:solidFill>
                  <a:srgbClr val="64748B"/>
                </a:solidFill>
                <a:latin typeface="Calibri" pitchFamily="34" charset="0"/>
                <a:ea typeface="Calibri" pitchFamily="34" charset="-122"/>
                <a:cs typeface="Calibri" pitchFamily="34" charset="-120"/>
              </a:rPr>
              <a:t>Mỗi RQ ↔ một bảng kết quả cụ thể. Reviewer đọc Introduction thấy ba câu hỏi → đọc Experiments thấy đúng ba bảng trả lời.</a:t>
            </a:r>
            <a:endParaRPr lang="en-US" sz="1400" dirty="0"/>
          </a:p>
        </p:txBody>
      </p:sp>
      <p:sp>
        <p:nvSpPr>
          <p:cNvPr id="23" name="Text 21"/>
          <p:cNvSpPr/>
          <p:nvPr/>
        </p:nvSpPr>
        <p:spPr>
          <a:xfrm>
            <a:off x="548640" y="6473952"/>
            <a:ext cx="54864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CatSA · Background &amp; Motivation</a:t>
            </a:r>
            <a:endParaRPr lang="en-US" sz="900" dirty="0"/>
          </a:p>
        </p:txBody>
      </p:sp>
      <p:sp>
        <p:nvSpPr>
          <p:cNvPr id="24" name="Text 22"/>
          <p:cNvSpPr/>
          <p:nvPr/>
        </p:nvSpPr>
        <p:spPr>
          <a:xfrm>
            <a:off x="11155680" y="6473952"/>
            <a:ext cx="4572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12</a:t>
            </a:r>
            <a:endParaRPr lang="en-US" sz="90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1390</Words>
  <Application>Microsoft Office PowerPoint</Application>
  <PresentationFormat>Widescreen</PresentationFormat>
  <Paragraphs>212</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CatSA — Background &amp; Motivation</dc:title>
  <dc:subject>PptxGenJS Presentation</dc:subject>
  <dc:creator>PGS. TS. Nguyễn Văn Hậu</dc:creator>
  <cp:lastModifiedBy>Microsoft account</cp:lastModifiedBy>
  <cp:revision>2</cp:revision>
  <dcterms:created xsi:type="dcterms:W3CDTF">2026-05-28T03:23:55Z</dcterms:created>
  <dcterms:modified xsi:type="dcterms:W3CDTF">2026-05-28T03:42:13Z</dcterms:modified>
</cp:coreProperties>
</file>